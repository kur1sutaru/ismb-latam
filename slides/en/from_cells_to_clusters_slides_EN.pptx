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</p:sldIdLst>
  <p:notesMasterIdLst>
    <p:notesMasterId r:id="rId2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Welcome" id="{ac600d80-b8d1-096b-5ebb-24e7dfd30065}">
          <p14:sldIdLst>
            <p14:sldId id="256"/>
            <p14:sldId id="257"/>
            <p14:sldId id="258"/>
          </p14:sldIdLst>
        </p14:section>
        <p14:section name="Single-cell technology" id="{d70c79fb-36c5-b7c9-07e1-7455d7b04559}">
          <p14:sldIdLst>
            <p14:sldId id="259"/>
            <p14:sldId id="260"/>
            <p14:sldId id="261"/>
            <p14:sldId id="262"/>
            <p14:sldId id="263"/>
          </p14:sldIdLst>
        </p14:section>
        <p14:section name="The analysis workflow" id="{77bacff4-f098-f558-8a09-45a3da00d43d}">
          <p14:sldIdLst>
            <p14:sldId id="264"/>
            <p14:sldId id="265"/>
            <p14:sldId id="266"/>
            <p14:sldId id="267"/>
            <p14:sldId id="268"/>
          </p14:sldIdLst>
        </p14:section>
        <p14:section name="Cell type annotation" id="{3b9f0e67-77cc-52e5-5d1c-230fdde768c2}">
          <p14:sldIdLst>
            <p14:sldId id="269"/>
            <p14:sldId id="270"/>
          </p14:sldIdLst>
        </p14:section>
        <p14:section name="Visualization and downstream analysis" id="{15454a24-9187-425c-80e0-b177f612857b}">
          <p14:sldIdLst>
            <p14:sldId id="271"/>
            <p14:sldId id="272"/>
            <p14:sldId id="273"/>
          </p14:sldIdLst>
        </p14:section>
        <p14:section name="Integration and R vs Python" id="{038d3e29-77e2-c7bf-f5a6-97d3ece6abb0}">
          <p14:sldIdLst>
            <p14:sldId id="274"/>
            <p14:sldId id="275"/>
          </p14:sldIdLst>
        </p14:section>
        <p14:section name="Hands-on" id="{c8565f00-bd66-971d-8b9b-47de7ca8e485}">
          <p14:sldIdLst>
            <p14:sldId id="276"/>
            <p14:sldId id="277"/>
            <p14:sldId id="278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notesMaster" Target="notesMasters/notesMaster1.xml"/><Relationship Id="rId26" Type="http://schemas.openxmlformats.org/officeDocument/2006/relationships/presProps" Target="presProps.xml"/><Relationship Id="rId27" Type="http://schemas.openxmlformats.org/officeDocument/2006/relationships/viewProps" Target="viewProps.xml"/><Relationship Id="rId28" Type="http://schemas.openxmlformats.org/officeDocument/2006/relationships/theme" Target="theme/theme1.xml"/><Relationship Id="rId2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Welcome. While I introduce the tutorial, please open notebook 00 from the README and run the Setup cell: it installs packages for about one minute.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Half-day, 9:00 to 12:30. Notebook 05 is a live demo; the rest is hands-on. Exercises have hidden solutions.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Six outcomes, one per notebook.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Bulk tells you the average; single-cell tells you who is in the sample and what each of them is doing.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Today we use 10x droplet data, but the analysis applies to all count-based methods.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Barcode, UMI and cDNA: three pieces of information per read pair. The UMI is what makes the counts quantitative.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Cell Ranger is free to download but requires a 10x license agreement and a powerful machine.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Also look at the barcode rank (knee) plot: a clear knee separates cells from empty droplets.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Each box is one Colab notebook. Every notebook can rebuild the previous step automatically.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obs and var are pandas DataFrames, so everything you know about pandas works here.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QC is iterative: you may come back after clustering if a cluster is defined only by low quality.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HVGs are only flagged, not removed; all genes stay in the object for plotting and 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Clusters are computed on the graph, not on the UMAP. Changing UMAP parameters does not change the clusters.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 the notebook we run all three on PBMC 3k and compare them with cross-tables.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Show CELLxGENE Gene Expression live: type a marker and see which cell types express it across tissues.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All of these are one line in Scanpy; the notebook shows each with the PBMC markers.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most common statistical mistake in single-cell papers. With one sample per condition you cannot test conditions at all.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decoupler gives one interface for all these methods and downloads the gene sets from OmniPath.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Integration changes the embedding only. Differential expression always uses the original counts.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 the ecosystem your collaborators use; .h5ad files move between both.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Switch to the browser now and open notebook 00.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repository will stay online after the conference, in English and Spanish.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">
    <p:bg>
      <p:bgPr>
        <a:solidFill>
          <a:srgbClr val="0B3C4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1554480"/>
            <a:ext cx="10698480" cy="17373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4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4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474720"/>
            <a:ext cx="10698480" cy="237744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2000" dirty="0">
                <a:solidFill>
                  <a:srgbClr val="CFE8E4"/>
                </a:solidFill>
              </a:defRPr>
            </a:lvl1pPr>
          </a:lstStyle>
          <a:p>
            <a:pPr indent="0" marL="0">
              <a:buNone/>
            </a:pPr>
            <a:endParaRPr lang="en-US" sz="20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">
    <p:bg>
      <p:bgPr>
        <a:solidFill>
          <a:srgbClr val="0B3C4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2286000"/>
            <a:ext cx="10698480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40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611880"/>
            <a:ext cx="10698480" cy="146304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2000" dirty="0">
                <a:solidFill>
                  <a:srgbClr val="CFE8E4"/>
                </a:solidFill>
              </a:defRPr>
            </a:lvl1pPr>
          </a:lstStyle>
          <a:p>
            <a:pPr indent="0" marL="0">
              <a:buNone/>
            </a:pP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CFE8E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7432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32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indent="0" marL="0">
              <a:buNone/>
            </a:pPr>
            <a:endParaRPr lang="en-US" sz="3200" dirty="0"/>
          </a:p>
        </p:txBody>
      </p:sp>
      <p:sp>
        <p:nvSpPr>
          <p:cNvPr id="3" name="Text 0"/>
          <p:cNvSpPr/>
          <p:nvPr/>
        </p:nvSpPr>
        <p:spPr>
          <a:xfrm>
            <a:off x="548640" y="63550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70"/>
                </a:solidFill>
              </a:rPr>
              <a:t>ISCB-LATAM SolBio SPBBC 2026 · From Cells to Clusters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CFE8E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image" Target="../media/image-2-7.png"/><Relationship Id="rId8" Type="http://schemas.openxmlformats.org/officeDocument/2006/relationships/image" Target="../media/image-2-8.png"/><Relationship Id="rId9" Type="http://schemas.openxmlformats.org/officeDocument/2006/relationships/slideLayout" Target="../slideLayouts/slideLayout4.xml"/><Relationship Id="rId10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slideLayout" Target="../slideLayouts/slideLayout4.xml"/><Relationship Id="rId8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4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slideLayout" Target="../slideLayouts/slideLayout4.xml"/><Relationship Id="rId5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slideLayout" Target="../slideLayouts/slideLayout4.xml"/><Relationship Id="rId5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image" Target="../media/image-15-3.png"/><Relationship Id="rId4" Type="http://schemas.openxmlformats.org/officeDocument/2006/relationships/image" Target="../media/image-15-4.png"/><Relationship Id="rId5" Type="http://schemas.openxmlformats.org/officeDocument/2006/relationships/image" Target="../media/image-15-5.png"/><Relationship Id="rId6" Type="http://schemas.openxmlformats.org/officeDocument/2006/relationships/image" Target="../media/image-15-6.png"/><Relationship Id="rId7" Type="http://schemas.openxmlformats.org/officeDocument/2006/relationships/slideLayout" Target="../slideLayouts/slideLayout4.xml"/><Relationship Id="rId8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8-2.png"/><Relationship Id="rId3" Type="http://schemas.openxmlformats.org/officeDocument/2006/relationships/image" Target="../media/image-18-3.png"/><Relationship Id="rId4" Type="http://schemas.openxmlformats.org/officeDocument/2006/relationships/slideLayout" Target="../slideLayouts/slideLayout4.xml"/><Relationship Id="rId5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image" Target="../media/image-19-2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image" Target="../media/image-20-2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image" Target="../media/image-21-2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image" Target="../media/image-22-2.png"/><Relationship Id="rId3" Type="http://schemas.openxmlformats.org/officeDocument/2006/relationships/image" Target="../media/image-22-3.png"/><Relationship Id="rId4" Type="http://schemas.openxmlformats.org/officeDocument/2006/relationships/image" Target="../media/image-22-4.png"/><Relationship Id="rId5" Type="http://schemas.openxmlformats.org/officeDocument/2006/relationships/image" Target="../media/image-22-5.png"/><Relationship Id="rId6" Type="http://schemas.openxmlformats.org/officeDocument/2006/relationships/image" Target="../media/image-22-6.png"/><Relationship Id="rId7" Type="http://schemas.openxmlformats.org/officeDocument/2006/relationships/slideLayout" Target="../slideLayouts/slideLayout4.xml"/><Relationship Id="rId8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1554480"/>
            <a:ext cx="10698480" cy="173736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44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Cells to Clusters</a:t>
            </a:r>
            <a:endParaRPr lang="en-US" sz="4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474720"/>
            <a:ext cx="1069848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CFE8E4"/>
                </a:solidFill>
              </a:rPr>
              <a:t>An Introduction to Single-Cell RNA-seq Analysis in Python</a:t>
            </a:r>
            <a:endParaRPr lang="en-US" sz="2000" dirty="0"/>
          </a:p>
          <a:p>
            <a:pPr indent="0" marL="0">
              <a:buNone/>
            </a:pPr>
            <a:r>
              <a:rPr lang="en-US" sz="1000" dirty="0">
                <a:solidFill>
                  <a:srgbClr val="CFE8E4"/>
                </a:solidFill>
              </a:rPr>
              <a:t> 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CFE8E4"/>
                </a:solidFill>
              </a:rPr>
              <a:t>Dr. Cristal Villalba Silva · UT Health San Antonio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CFE8E4"/>
                </a:solidFill>
              </a:rPr>
              <a:t>ISCB-LATAM SolBio SPBBC 2026 · Lima, Peru · November 9, 2026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F4A261"/>
                </a:solidFill>
              </a:rPr>
              <a:t>github.com/Kur1sutaru/ISMB-LATAM</a:t>
            </a:r>
            <a:endParaRPr lang="en-US" sz="20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>
            <a:alphaModFix amt="80000"/>
          </a:blip>
          <a:stretch>
            <a:fillRect/>
          </a:stretch>
        </p:blipFill>
        <p:spPr>
          <a:xfrm>
            <a:off x="10241280" y="548640"/>
            <a:ext cx="1280160" cy="128016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74320"/>
            <a:ext cx="110642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Today's plan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417320"/>
            <a:ext cx="822960" cy="822960"/>
          </a:xfrm>
          <a:prstGeom prst="ellipse">
            <a:avLst/>
          </a:prstGeom>
          <a:solidFill>
            <a:srgbClr val="264653"/>
          </a:solidFill>
          <a:ln w="12700">
            <a:solidFill>
              <a:srgbClr val="264653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4380" y="1623060"/>
            <a:ext cx="411480" cy="41148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600200" y="1435608"/>
            <a:ext cx="100584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9:00</a:t>
            </a:r>
            <a:endParaRPr lang="en-US" sz="2000" dirty="0"/>
          </a:p>
        </p:txBody>
      </p:sp>
      <p:sp>
        <p:nvSpPr>
          <p:cNvPr id="6" name="Text 3"/>
          <p:cNvSpPr txBox="1"/>
          <p:nvPr/>
        </p:nvSpPr>
        <p:spPr>
          <a:xfrm>
            <a:off x="2606040" y="1435608"/>
            <a:ext cx="338328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Introduction (slides)</a:t>
            </a:r>
            <a:endParaRPr lang="en-US" sz="1700" dirty="0"/>
          </a:p>
        </p:txBody>
      </p:sp>
      <p:sp>
        <p:nvSpPr>
          <p:cNvPr id="7" name="Shape 4"/>
          <p:cNvSpPr/>
          <p:nvPr/>
        </p:nvSpPr>
        <p:spPr>
          <a:xfrm>
            <a:off x="548640" y="2606040"/>
            <a:ext cx="822960" cy="822960"/>
          </a:xfrm>
          <a:prstGeom prst="ellipse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4380" y="2811780"/>
            <a:ext cx="411480" cy="411480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600200" y="2624328"/>
            <a:ext cx="100584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9:20</a:t>
            </a:r>
            <a:endParaRPr lang="en-US" sz="2000" dirty="0"/>
          </a:p>
        </p:txBody>
      </p:sp>
      <p:sp>
        <p:nvSpPr>
          <p:cNvPr id="10" name="Text 6"/>
          <p:cNvSpPr txBox="1"/>
          <p:nvPr/>
        </p:nvSpPr>
        <p:spPr>
          <a:xfrm>
            <a:off x="2606040" y="2624328"/>
            <a:ext cx="338328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00 · Cell Ranger &amp; AnnData</a:t>
            </a:r>
            <a:endParaRPr lang="en-US" sz="1700" dirty="0"/>
          </a:p>
        </p:txBody>
      </p:sp>
      <p:sp>
        <p:nvSpPr>
          <p:cNvPr id="11" name="Shape 7"/>
          <p:cNvSpPr/>
          <p:nvPr/>
        </p:nvSpPr>
        <p:spPr>
          <a:xfrm>
            <a:off x="548640" y="3794760"/>
            <a:ext cx="822960" cy="822960"/>
          </a:xfrm>
          <a:prstGeom prst="ellipse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4380" y="4000500"/>
            <a:ext cx="411480" cy="411480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1600200" y="3813048"/>
            <a:ext cx="100584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9:40</a:t>
            </a:r>
            <a:endParaRPr lang="en-US" sz="2000" dirty="0"/>
          </a:p>
        </p:txBody>
      </p:sp>
      <p:sp>
        <p:nvSpPr>
          <p:cNvPr id="14" name="Text 9"/>
          <p:cNvSpPr txBox="1"/>
          <p:nvPr/>
        </p:nvSpPr>
        <p:spPr>
          <a:xfrm>
            <a:off x="2606040" y="3813048"/>
            <a:ext cx="338328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01 · Quality control</a:t>
            </a:r>
            <a:endParaRPr lang="en-US" sz="1700" dirty="0"/>
          </a:p>
        </p:txBody>
      </p:sp>
      <p:sp>
        <p:nvSpPr>
          <p:cNvPr id="15" name="Shape 10"/>
          <p:cNvSpPr/>
          <p:nvPr/>
        </p:nvSpPr>
        <p:spPr>
          <a:xfrm>
            <a:off x="548640" y="4983480"/>
            <a:ext cx="822960" cy="822960"/>
          </a:xfrm>
          <a:prstGeom prst="ellipse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4380" y="5189220"/>
            <a:ext cx="411480" cy="411480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1600200" y="5001768"/>
            <a:ext cx="100584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10:15</a:t>
            </a:r>
            <a:endParaRPr lang="en-US" sz="2000" dirty="0"/>
          </a:p>
        </p:txBody>
      </p:sp>
      <p:sp>
        <p:nvSpPr>
          <p:cNvPr id="18" name="Text 12"/>
          <p:cNvSpPr txBox="1"/>
          <p:nvPr/>
        </p:nvSpPr>
        <p:spPr>
          <a:xfrm>
            <a:off x="2606040" y="5001768"/>
            <a:ext cx="338328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02 · PCA, UMAP, clustering</a:t>
            </a:r>
            <a:endParaRPr lang="en-US" sz="1700" dirty="0"/>
          </a:p>
        </p:txBody>
      </p:sp>
      <p:sp>
        <p:nvSpPr>
          <p:cNvPr id="19" name="Shape 13"/>
          <p:cNvSpPr/>
          <p:nvPr/>
        </p:nvSpPr>
        <p:spPr>
          <a:xfrm>
            <a:off x="6217920" y="1417320"/>
            <a:ext cx="822960" cy="822960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pic>
        <p:nvPicPr>
          <p:cNvPr id="2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23660" y="1623060"/>
            <a:ext cx="411480" cy="411480"/>
          </a:xfrm>
          <a:prstGeom prst="rect">
            <a:avLst/>
          </a:prstGeom>
        </p:spPr>
      </p:pic>
      <p:sp>
        <p:nvSpPr>
          <p:cNvPr id="21" name="Text 14"/>
          <p:cNvSpPr txBox="1"/>
          <p:nvPr/>
        </p:nvSpPr>
        <p:spPr>
          <a:xfrm>
            <a:off x="7269480" y="1435608"/>
            <a:ext cx="100584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10:45</a:t>
            </a:r>
            <a:endParaRPr lang="en-US" sz="2000" dirty="0"/>
          </a:p>
        </p:txBody>
      </p:sp>
      <p:sp>
        <p:nvSpPr>
          <p:cNvPr id="22" name="Text 15"/>
          <p:cNvSpPr txBox="1"/>
          <p:nvPr/>
        </p:nvSpPr>
        <p:spPr>
          <a:xfrm>
            <a:off x="8275320" y="1435608"/>
            <a:ext cx="338328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Coffee break</a:t>
            </a:r>
            <a:endParaRPr lang="en-US" sz="1700" dirty="0"/>
          </a:p>
        </p:txBody>
      </p:sp>
      <p:sp>
        <p:nvSpPr>
          <p:cNvPr id="23" name="Shape 16"/>
          <p:cNvSpPr/>
          <p:nvPr/>
        </p:nvSpPr>
        <p:spPr>
          <a:xfrm>
            <a:off x="6217920" y="2606040"/>
            <a:ext cx="822960" cy="822960"/>
          </a:xfrm>
          <a:prstGeom prst="ellipse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pic>
        <p:nvPicPr>
          <p:cNvPr id="24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23660" y="2811780"/>
            <a:ext cx="411480" cy="411480"/>
          </a:xfrm>
          <a:prstGeom prst="rect">
            <a:avLst/>
          </a:prstGeom>
        </p:spPr>
      </p:pic>
      <p:sp>
        <p:nvSpPr>
          <p:cNvPr id="25" name="Text 17"/>
          <p:cNvSpPr txBox="1"/>
          <p:nvPr/>
        </p:nvSpPr>
        <p:spPr>
          <a:xfrm>
            <a:off x="7269480" y="2624328"/>
            <a:ext cx="100584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11:00</a:t>
            </a:r>
            <a:endParaRPr lang="en-US" sz="2000" dirty="0"/>
          </a:p>
        </p:txBody>
      </p:sp>
      <p:sp>
        <p:nvSpPr>
          <p:cNvPr id="26" name="Text 18"/>
          <p:cNvSpPr txBox="1"/>
          <p:nvPr/>
        </p:nvSpPr>
        <p:spPr>
          <a:xfrm>
            <a:off x="8275320" y="2624328"/>
            <a:ext cx="338328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03 · Cell type annotation</a:t>
            </a:r>
            <a:endParaRPr lang="en-US" sz="1700" dirty="0"/>
          </a:p>
        </p:txBody>
      </p:sp>
      <p:sp>
        <p:nvSpPr>
          <p:cNvPr id="27" name="Shape 19"/>
          <p:cNvSpPr/>
          <p:nvPr/>
        </p:nvSpPr>
        <p:spPr>
          <a:xfrm>
            <a:off x="6217920" y="3794760"/>
            <a:ext cx="822960" cy="822960"/>
          </a:xfrm>
          <a:prstGeom prst="ellipse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pic>
        <p:nvPicPr>
          <p:cNvPr id="28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23660" y="4000500"/>
            <a:ext cx="411480" cy="411480"/>
          </a:xfrm>
          <a:prstGeom prst="rect">
            <a:avLst/>
          </a:prstGeom>
        </p:spPr>
      </p:pic>
      <p:sp>
        <p:nvSpPr>
          <p:cNvPr id="29" name="Text 20"/>
          <p:cNvSpPr txBox="1"/>
          <p:nvPr/>
        </p:nvSpPr>
        <p:spPr>
          <a:xfrm>
            <a:off x="7269480" y="3813048"/>
            <a:ext cx="100584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11:35</a:t>
            </a:r>
            <a:endParaRPr lang="en-US" sz="2000" dirty="0"/>
          </a:p>
        </p:txBody>
      </p:sp>
      <p:sp>
        <p:nvSpPr>
          <p:cNvPr id="30" name="Text 21"/>
          <p:cNvSpPr txBox="1"/>
          <p:nvPr/>
        </p:nvSpPr>
        <p:spPr>
          <a:xfrm>
            <a:off x="8275320" y="3813048"/>
            <a:ext cx="338328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04 · Plots, DEGs, pathways</a:t>
            </a:r>
            <a:endParaRPr lang="en-US" sz="1700" dirty="0"/>
          </a:p>
        </p:txBody>
      </p:sp>
      <p:sp>
        <p:nvSpPr>
          <p:cNvPr id="31" name="Shape 22"/>
          <p:cNvSpPr/>
          <p:nvPr/>
        </p:nvSpPr>
        <p:spPr>
          <a:xfrm>
            <a:off x="6217920" y="4983480"/>
            <a:ext cx="822960" cy="822960"/>
          </a:xfrm>
          <a:prstGeom prst="ellipse">
            <a:avLst/>
          </a:prstGeom>
          <a:solidFill>
            <a:srgbClr val="6C5B7B"/>
          </a:solidFill>
          <a:ln w="12700">
            <a:solidFill>
              <a:srgbClr val="6C5B7B"/>
            </a:solidFill>
            <a:prstDash val="solid"/>
          </a:ln>
        </p:spPr>
      </p:sp>
      <p:pic>
        <p:nvPicPr>
          <p:cNvPr id="32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423660" y="5189220"/>
            <a:ext cx="411480" cy="411480"/>
          </a:xfrm>
          <a:prstGeom prst="rect">
            <a:avLst/>
          </a:prstGeom>
        </p:spPr>
      </p:pic>
      <p:sp>
        <p:nvSpPr>
          <p:cNvPr id="33" name="Text 23"/>
          <p:cNvSpPr txBox="1"/>
          <p:nvPr/>
        </p:nvSpPr>
        <p:spPr>
          <a:xfrm>
            <a:off x="7269480" y="5001768"/>
            <a:ext cx="100584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12:05</a:t>
            </a:r>
            <a:endParaRPr lang="en-US" sz="2000" dirty="0"/>
          </a:p>
        </p:txBody>
      </p:sp>
      <p:sp>
        <p:nvSpPr>
          <p:cNvPr id="34" name="Text 24"/>
          <p:cNvSpPr txBox="1"/>
          <p:nvPr/>
        </p:nvSpPr>
        <p:spPr>
          <a:xfrm>
            <a:off x="8275320" y="5001768"/>
            <a:ext cx="338328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05 · Integration · R vs Python</a:t>
            </a:r>
            <a:endParaRPr lang="en-US" sz="1700" dirty="0"/>
          </a:p>
        </p:txBody>
      </p:sp>
      <p:sp>
        <p:nvSpPr>
          <p:cNvPr id="35" name="Text 25"/>
          <p:cNvSpPr txBox="1"/>
          <p:nvPr/>
        </p:nvSpPr>
        <p:spPr>
          <a:xfrm>
            <a:off x="548640" y="589788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B70"/>
                </a:solidFill>
              </a:rPr>
              <a:t>~65 % hands-on in Google Colab · materials in English and Spanish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74320"/>
            <a:ext cx="110642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By 12:30 you will be able to…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417320"/>
            <a:ext cx="5449824" cy="1325880"/>
          </a:xfrm>
          <a:prstGeom prst="roundRect">
            <a:avLst>
              <a:gd name="adj" fmla="val 827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7240" y="1645920"/>
            <a:ext cx="594360" cy="594360"/>
          </a:xfrm>
          <a:prstGeom prst="ellipse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25830" y="1794510"/>
            <a:ext cx="297180" cy="29718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508760" y="1645920"/>
            <a:ext cx="426110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Go from a Cell Ranger matrix to an AnnData object</a:t>
            </a:r>
            <a:endParaRPr lang="en-US" sz="1700" dirty="0"/>
          </a:p>
        </p:txBody>
      </p:sp>
      <p:sp>
        <p:nvSpPr>
          <p:cNvPr id="7" name="Shape 4"/>
          <p:cNvSpPr/>
          <p:nvPr/>
        </p:nvSpPr>
        <p:spPr>
          <a:xfrm>
            <a:off x="6190488" y="1417320"/>
            <a:ext cx="5449824" cy="1325880"/>
          </a:xfrm>
          <a:prstGeom prst="roundRect">
            <a:avLst>
              <a:gd name="adj" fmla="val 827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6419088" y="1645920"/>
            <a:ext cx="594360" cy="594360"/>
          </a:xfrm>
          <a:prstGeom prst="ellipse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67678" y="1794510"/>
            <a:ext cx="297180" cy="297180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7150608" y="1645920"/>
            <a:ext cx="426110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Remove low-quality cells and doublets, normalize</a:t>
            </a:r>
            <a:endParaRPr lang="en-US" sz="1700" dirty="0"/>
          </a:p>
        </p:txBody>
      </p:sp>
      <p:sp>
        <p:nvSpPr>
          <p:cNvPr id="11" name="Shape 7"/>
          <p:cNvSpPr/>
          <p:nvPr/>
        </p:nvSpPr>
        <p:spPr>
          <a:xfrm>
            <a:off x="548640" y="2971800"/>
            <a:ext cx="5449824" cy="1325880"/>
          </a:xfrm>
          <a:prstGeom prst="roundRect">
            <a:avLst>
              <a:gd name="adj" fmla="val 827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777240" y="3200400"/>
            <a:ext cx="594360" cy="594360"/>
          </a:xfrm>
          <a:prstGeom prst="ellipse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5830" y="3348990"/>
            <a:ext cx="297180" cy="297180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1508760" y="3200400"/>
            <a:ext cx="426110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Reduce dimensions, build UMAPs, cluster cells</a:t>
            </a:r>
            <a:endParaRPr lang="en-US" sz="1700" dirty="0"/>
          </a:p>
        </p:txBody>
      </p:sp>
      <p:sp>
        <p:nvSpPr>
          <p:cNvPr id="15" name="Shape 10"/>
          <p:cNvSpPr/>
          <p:nvPr/>
        </p:nvSpPr>
        <p:spPr>
          <a:xfrm>
            <a:off x="6190488" y="2971800"/>
            <a:ext cx="5449824" cy="1325880"/>
          </a:xfrm>
          <a:prstGeom prst="roundRect">
            <a:avLst>
              <a:gd name="adj" fmla="val 827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6" name="Shape 11"/>
          <p:cNvSpPr/>
          <p:nvPr/>
        </p:nvSpPr>
        <p:spPr>
          <a:xfrm>
            <a:off x="6419088" y="3200400"/>
            <a:ext cx="594360" cy="594360"/>
          </a:xfrm>
          <a:prstGeom prst="ellipse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67678" y="3348990"/>
            <a:ext cx="297180" cy="297180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7150608" y="3200400"/>
            <a:ext cx="426110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Annotate cell types with markers, databases and atlases</a:t>
            </a:r>
            <a:endParaRPr lang="en-US" sz="1700" dirty="0"/>
          </a:p>
        </p:txBody>
      </p:sp>
      <p:sp>
        <p:nvSpPr>
          <p:cNvPr id="19" name="Shape 13"/>
          <p:cNvSpPr/>
          <p:nvPr/>
        </p:nvSpPr>
        <p:spPr>
          <a:xfrm>
            <a:off x="548640" y="4526280"/>
            <a:ext cx="5449824" cy="1325880"/>
          </a:xfrm>
          <a:prstGeom prst="roundRect">
            <a:avLst>
              <a:gd name="adj" fmla="val 827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0" name="Shape 14"/>
          <p:cNvSpPr/>
          <p:nvPr/>
        </p:nvSpPr>
        <p:spPr>
          <a:xfrm>
            <a:off x="777240" y="4754880"/>
            <a:ext cx="594360" cy="594360"/>
          </a:xfrm>
          <a:prstGeom prst="ellipse">
            <a:avLst/>
          </a:prstGeom>
          <a:solidFill>
            <a:srgbClr val="264653"/>
          </a:solidFill>
          <a:ln w="12700">
            <a:solidFill>
              <a:srgbClr val="264653"/>
            </a:solidFill>
            <a:prstDash val="solid"/>
          </a:ln>
        </p:spPr>
      </p:sp>
      <p:pic>
        <p:nvPicPr>
          <p:cNvPr id="2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25830" y="4903470"/>
            <a:ext cx="297180" cy="297180"/>
          </a:xfrm>
          <a:prstGeom prst="rect">
            <a:avLst/>
          </a:prstGeom>
        </p:spPr>
      </p:pic>
      <p:sp>
        <p:nvSpPr>
          <p:cNvPr id="22" name="Text 15"/>
          <p:cNvSpPr txBox="1"/>
          <p:nvPr/>
        </p:nvSpPr>
        <p:spPr>
          <a:xfrm>
            <a:off x="1508760" y="4754880"/>
            <a:ext cx="426110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Make clear figures, find DEGs, interpret pathways</a:t>
            </a:r>
            <a:endParaRPr lang="en-US" sz="1700" dirty="0"/>
          </a:p>
        </p:txBody>
      </p:sp>
      <p:sp>
        <p:nvSpPr>
          <p:cNvPr id="23" name="Shape 16"/>
          <p:cNvSpPr/>
          <p:nvPr/>
        </p:nvSpPr>
        <p:spPr>
          <a:xfrm>
            <a:off x="6190488" y="4526280"/>
            <a:ext cx="5449824" cy="1325880"/>
          </a:xfrm>
          <a:prstGeom prst="roundRect">
            <a:avLst>
              <a:gd name="adj" fmla="val 827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4" name="Shape 17"/>
          <p:cNvSpPr/>
          <p:nvPr/>
        </p:nvSpPr>
        <p:spPr>
          <a:xfrm>
            <a:off x="6419088" y="4754880"/>
            <a:ext cx="594360" cy="594360"/>
          </a:xfrm>
          <a:prstGeom prst="ellipse">
            <a:avLst/>
          </a:prstGeom>
          <a:solidFill>
            <a:srgbClr val="264653"/>
          </a:solidFill>
          <a:ln w="12700">
            <a:solidFill>
              <a:srgbClr val="264653"/>
            </a:solidFill>
            <a:prstDash val="solid"/>
          </a:ln>
        </p:spPr>
      </p:sp>
      <p:pic>
        <p:nvPicPr>
          <p:cNvPr id="25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67678" y="4903470"/>
            <a:ext cx="297180" cy="297180"/>
          </a:xfrm>
          <a:prstGeom prst="rect">
            <a:avLst/>
          </a:prstGeom>
        </p:spPr>
      </p:pic>
      <p:sp>
        <p:nvSpPr>
          <p:cNvPr id="26" name="Text 18"/>
          <p:cNvSpPr txBox="1"/>
          <p:nvPr/>
        </p:nvSpPr>
        <p:spPr>
          <a:xfrm>
            <a:off x="7150608" y="4754880"/>
            <a:ext cx="426110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Integrate samples, compare conditions, translate to R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74320"/>
            <a:ext cx="110642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single-cell? Smoothie vs. fruit salad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463040"/>
            <a:ext cx="5394960" cy="4480560"/>
          </a:xfrm>
          <a:prstGeom prst="roundRect">
            <a:avLst>
              <a:gd name="adj" fmla="val 244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7240" y="1691640"/>
            <a:ext cx="594360" cy="594360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25830" y="1840230"/>
            <a:ext cx="297180" cy="29718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508760" y="1691640"/>
            <a:ext cx="4206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Bulk RNA-seq</a:t>
            </a:r>
            <a:endParaRPr lang="en-US" sz="1700" dirty="0"/>
          </a:p>
        </p:txBody>
      </p:sp>
      <p:sp>
        <p:nvSpPr>
          <p:cNvPr id="7" name="Text 4"/>
          <p:cNvSpPr txBox="1"/>
          <p:nvPr/>
        </p:nvSpPr>
        <p:spPr>
          <a:xfrm>
            <a:off x="777240" y="2423160"/>
            <a:ext cx="493776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One average profile per sample</a:t>
            </a:r>
            <a:endParaRPr lang="en-US" sz="16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A change could be a shift in expression or in cell composition, and you cannot tell which</a:t>
            </a:r>
            <a:endParaRPr lang="en-US" sz="16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Rare cells (&lt; 5 %) are invisible</a:t>
            </a:r>
            <a:endParaRPr lang="en-US" sz="16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Cheap, deep, many replicates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6245352" y="1463040"/>
            <a:ext cx="5394960" cy="4480560"/>
          </a:xfrm>
          <a:prstGeom prst="roundRect">
            <a:avLst>
              <a:gd name="adj" fmla="val 244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6473952" y="1691640"/>
            <a:ext cx="594360" cy="594360"/>
          </a:xfrm>
          <a:prstGeom prst="ellipse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22542" y="1840230"/>
            <a:ext cx="297180" cy="29718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7205472" y="1691640"/>
            <a:ext cx="4206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Single-cell RNA-seq</a:t>
            </a:r>
            <a:endParaRPr lang="en-US" sz="1700" dirty="0"/>
          </a:p>
        </p:txBody>
      </p:sp>
      <p:sp>
        <p:nvSpPr>
          <p:cNvPr id="12" name="Text 8"/>
          <p:cNvSpPr txBox="1"/>
          <p:nvPr/>
        </p:nvSpPr>
        <p:spPr>
          <a:xfrm>
            <a:off x="6473952" y="2423160"/>
            <a:ext cx="493776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One profile per cell: thousands to millions of cells</a:t>
            </a:r>
            <a:endParaRPr lang="en-US" sz="16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Discover cell types and states, including rare ones</a:t>
            </a:r>
            <a:endParaRPr lang="en-US" sz="16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Measure composition and cell-type-specific responses</a:t>
            </a:r>
            <a:endParaRPr lang="en-US" sz="16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Sparse (most values are 0), noisy, more expensive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74320"/>
            <a:ext cx="110642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Main technologies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463040"/>
            <a:ext cx="2651760" cy="4206240"/>
          </a:xfrm>
          <a:prstGeom prst="roundRect">
            <a:avLst>
              <a:gd name="adj" fmla="val 413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7240" y="1691640"/>
            <a:ext cx="594360" cy="594360"/>
          </a:xfrm>
          <a:prstGeom prst="ellipse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25830" y="1840230"/>
            <a:ext cx="297180" cy="29718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508760" y="1691640"/>
            <a:ext cx="1463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Droplets</a:t>
            </a:r>
            <a:endParaRPr lang="en-US" sz="1700" dirty="0"/>
          </a:p>
        </p:txBody>
      </p:sp>
      <p:sp>
        <p:nvSpPr>
          <p:cNvPr id="7" name="Text 4"/>
          <p:cNvSpPr txBox="1"/>
          <p:nvPr/>
        </p:nvSpPr>
        <p:spPr>
          <a:xfrm>
            <a:off x="777240" y="2423160"/>
            <a:ext cx="21945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dirty="0">
                <a:solidFill>
                  <a:schemeClr val="tx1"/>
                </a:solidFill>
              </a:rPr>
              <a:t>10x Chromium, Drop-seq. 1k–20k cells per channel, 3' or 5' counts with UMIs. The most common choice.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3364992" y="1463040"/>
            <a:ext cx="2651760" cy="4206240"/>
          </a:xfrm>
          <a:prstGeom prst="roundRect">
            <a:avLst>
              <a:gd name="adj" fmla="val 413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3593592" y="1691640"/>
            <a:ext cx="594360" cy="594360"/>
          </a:xfrm>
          <a:prstGeom prst="ellipse">
            <a:avLst/>
          </a:prstGeom>
          <a:solidFill>
            <a:srgbClr val="264653"/>
          </a:solidFill>
          <a:ln w="12700">
            <a:solidFill>
              <a:srgbClr val="264653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42182" y="1840230"/>
            <a:ext cx="297180" cy="29718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4325112" y="1691640"/>
            <a:ext cx="1463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Plates</a:t>
            </a:r>
            <a:endParaRPr lang="en-US" sz="1700" dirty="0"/>
          </a:p>
        </p:txBody>
      </p:sp>
      <p:sp>
        <p:nvSpPr>
          <p:cNvPr id="12" name="Text 8"/>
          <p:cNvSpPr txBox="1"/>
          <p:nvPr/>
        </p:nvSpPr>
        <p:spPr>
          <a:xfrm>
            <a:off x="3593592" y="2423160"/>
            <a:ext cx="21945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dirty="0">
                <a:solidFill>
                  <a:schemeClr val="tx1"/>
                </a:solidFill>
              </a:rPr>
              <a:t>Smart-seq2/3. Hundreds of cells, full-length transcripts: isoforms, mutations, high sensitivity.</a:t>
            </a:r>
            <a:endParaRPr lang="en-US" sz="1600" dirty="0"/>
          </a:p>
        </p:txBody>
      </p:sp>
      <p:sp>
        <p:nvSpPr>
          <p:cNvPr id="13" name="Shape 9"/>
          <p:cNvSpPr/>
          <p:nvPr/>
        </p:nvSpPr>
        <p:spPr>
          <a:xfrm>
            <a:off x="6181344" y="1463040"/>
            <a:ext cx="2651760" cy="4206240"/>
          </a:xfrm>
          <a:prstGeom prst="roundRect">
            <a:avLst>
              <a:gd name="adj" fmla="val 413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6409944" y="1691640"/>
            <a:ext cx="594360" cy="594360"/>
          </a:xfrm>
          <a:prstGeom prst="ellipse">
            <a:avLst/>
          </a:prstGeom>
          <a:solidFill>
            <a:srgbClr val="6C5B7B"/>
          </a:solidFill>
          <a:ln w="12700">
            <a:solidFill>
              <a:srgbClr val="6C5B7B"/>
            </a:solidFill>
            <a:prstDash val="solid"/>
          </a:ln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58534" y="1840230"/>
            <a:ext cx="297180" cy="297180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7141464" y="1691640"/>
            <a:ext cx="1463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Combinatorial indexing</a:t>
            </a:r>
            <a:endParaRPr lang="en-US" sz="1700" dirty="0"/>
          </a:p>
        </p:txBody>
      </p:sp>
      <p:sp>
        <p:nvSpPr>
          <p:cNvPr id="17" name="Text 12"/>
          <p:cNvSpPr txBox="1"/>
          <p:nvPr/>
        </p:nvSpPr>
        <p:spPr>
          <a:xfrm>
            <a:off x="6409944" y="2423160"/>
            <a:ext cx="21945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dirty="0">
                <a:solidFill>
                  <a:schemeClr val="tx1"/>
                </a:solidFill>
              </a:rPr>
              <a:t>SPLiT-seq, Parse, sci-RNA-seq. Up to millions of cells and many samples, fixed cells.</a:t>
            </a:r>
            <a:endParaRPr lang="en-US" sz="1600" dirty="0"/>
          </a:p>
        </p:txBody>
      </p:sp>
      <p:sp>
        <p:nvSpPr>
          <p:cNvPr id="18" name="Shape 13"/>
          <p:cNvSpPr/>
          <p:nvPr/>
        </p:nvSpPr>
        <p:spPr>
          <a:xfrm>
            <a:off x="8997696" y="1463040"/>
            <a:ext cx="2651760" cy="4206240"/>
          </a:xfrm>
          <a:prstGeom prst="roundRect">
            <a:avLst>
              <a:gd name="adj" fmla="val 413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9" name="Shape 14"/>
          <p:cNvSpPr/>
          <p:nvPr/>
        </p:nvSpPr>
        <p:spPr>
          <a:xfrm>
            <a:off x="9226296" y="1691640"/>
            <a:ext cx="594360" cy="594360"/>
          </a:xfrm>
          <a:prstGeom prst="ellipse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74886" y="1840230"/>
            <a:ext cx="297180" cy="297180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9957816" y="1691640"/>
            <a:ext cx="1463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Spatial</a:t>
            </a:r>
            <a:endParaRPr lang="en-US" sz="1700" dirty="0"/>
          </a:p>
        </p:txBody>
      </p:sp>
      <p:sp>
        <p:nvSpPr>
          <p:cNvPr id="22" name="Text 16"/>
          <p:cNvSpPr txBox="1"/>
          <p:nvPr/>
        </p:nvSpPr>
        <p:spPr>
          <a:xfrm>
            <a:off x="9226296" y="2423160"/>
            <a:ext cx="21945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dirty="0">
                <a:solidFill>
                  <a:schemeClr val="tx1"/>
                </a:solidFill>
              </a:rPr>
              <a:t>Visium HD, Xenium, MERFISH, CosMx. Expression with its position in the tissue.</a:t>
            </a:r>
            <a:endParaRPr lang="en-US" sz="1600" dirty="0"/>
          </a:p>
        </p:txBody>
      </p:sp>
      <p:sp>
        <p:nvSpPr>
          <p:cNvPr id="23" name="Text 17"/>
          <p:cNvSpPr txBox="1"/>
          <p:nvPr/>
        </p:nvSpPr>
        <p:spPr>
          <a:xfrm>
            <a:off x="548640" y="580644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B70"/>
                </a:solidFill>
              </a:rPr>
              <a:t>Single-nucleus RNA-seq (snRNA-seq) works on frozen tissue and cells that are hard to dissociate (neurons, adipocytes); the analysis is almost identical.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74320"/>
            <a:ext cx="110642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10x Chromium works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508760"/>
            <a:ext cx="2532888" cy="1737360"/>
          </a:xfrm>
          <a:prstGeom prst="roundRect">
            <a:avLst>
              <a:gd name="adj" fmla="val 5263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58368" y="1581912"/>
            <a:ext cx="2313432" cy="1591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1 · Encapsulate</a:t>
            </a:r>
            <a:endParaRPr lang="en-US" sz="1600" dirty="0"/>
          </a:p>
          <a:p>
            <a:pPr algn="ctr" indent="0" marL="0">
              <a:buNone/>
            </a:pPr>
            <a:r>
              <a:rPr lang="en-US" sz="1300" dirty="0">
                <a:solidFill>
                  <a:schemeClr val="bg1"/>
                </a:solidFill>
              </a:rPr>
              <a:t>Cell + barcoded gel bead in an oil droplet (GEM)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 rot="5400000">
            <a:off x="3113532" y="2286000"/>
            <a:ext cx="256032" cy="182880"/>
          </a:xfrm>
          <a:prstGeom prst="triangle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401568" y="1508760"/>
            <a:ext cx="2532888" cy="1737360"/>
          </a:xfrm>
          <a:prstGeom prst="roundRect">
            <a:avLst>
              <a:gd name="adj" fmla="val 5263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3511296" y="1581912"/>
            <a:ext cx="2313432" cy="1591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2 · Lyse &amp; tag</a:t>
            </a:r>
            <a:endParaRPr lang="en-US" sz="1600" dirty="0"/>
          </a:p>
          <a:p>
            <a:pPr algn="ctr" indent="0" marL="0">
              <a:buNone/>
            </a:pPr>
            <a:r>
              <a:rPr lang="en-US" sz="1300" dirty="0">
                <a:solidFill>
                  <a:schemeClr val="bg1"/>
                </a:solidFill>
              </a:rPr>
              <a:t>mRNA captured by poly(dT); each molecule gets cell barcode + UMI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 rot="5400000">
            <a:off x="5966460" y="2286000"/>
            <a:ext cx="256032" cy="182880"/>
          </a:xfrm>
          <a:prstGeom prst="triangle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254496" y="1508760"/>
            <a:ext cx="2532888" cy="1737360"/>
          </a:xfrm>
          <a:prstGeom prst="roundRect">
            <a:avLst>
              <a:gd name="adj" fmla="val 5263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364224" y="1581912"/>
            <a:ext cx="2313432" cy="1591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3 · Pool &amp; amplify</a:t>
            </a:r>
            <a:endParaRPr lang="en-US" sz="1600" dirty="0"/>
          </a:p>
          <a:p>
            <a:pPr algn="ctr" indent="0" marL="0">
              <a:buNone/>
            </a:pPr>
            <a:r>
              <a:rPr lang="en-US" sz="1300" dirty="0">
                <a:solidFill>
                  <a:schemeClr val="bg1"/>
                </a:solidFill>
              </a:rPr>
              <a:t>Break droplets, reverse-transcribe, PCR, build the library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 rot="5400000">
            <a:off x="8819388" y="2286000"/>
            <a:ext cx="256032" cy="182880"/>
          </a:xfrm>
          <a:prstGeom prst="triangle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107424" y="1508760"/>
            <a:ext cx="2532888" cy="1737360"/>
          </a:xfrm>
          <a:prstGeom prst="roundRect">
            <a:avLst>
              <a:gd name="adj" fmla="val 5263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9217152" y="1581912"/>
            <a:ext cx="2313432" cy="1591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4 · Sequence</a:t>
            </a:r>
            <a:endParaRPr lang="en-US" sz="1600" dirty="0"/>
          </a:p>
          <a:p>
            <a:pPr algn="ctr" indent="0" marL="0">
              <a:buNone/>
            </a:pPr>
            <a:r>
              <a:rPr lang="en-US" sz="1300" dirty="0">
                <a:solidFill>
                  <a:schemeClr val="bg1"/>
                </a:solidFill>
              </a:rPr>
              <a:t>Illumina paired-end, ~20–50k reads per cell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548640" y="3657600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Read structure (3' v3/v4)</a:t>
            </a:r>
            <a:endParaRPr lang="en-US" sz="1800" dirty="0"/>
          </a:p>
        </p:txBody>
      </p:sp>
      <p:sp>
        <p:nvSpPr>
          <p:cNvPr id="15" name="Text 13"/>
          <p:cNvSpPr txBox="1"/>
          <p:nvPr/>
        </p:nvSpPr>
        <p:spPr>
          <a:xfrm>
            <a:off x="548640" y="4206240"/>
            <a:ext cx="1097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Read 1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1737360" y="4206240"/>
            <a:ext cx="2926080" cy="502920"/>
          </a:xfrm>
          <a:prstGeom prst="rect">
            <a:avLst/>
          </a:prstGeom>
          <a:solidFill>
            <a:srgbClr val="E76F51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1737360" y="4206240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Cell barcode · 16 bp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4663440" y="4206240"/>
            <a:ext cx="2194560" cy="502920"/>
          </a:xfrm>
          <a:prstGeom prst="rect">
            <a:avLst/>
          </a:prstGeom>
          <a:solidFill>
            <a:srgbClr val="F4A261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4663440" y="420624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UMI · 12 bp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6858000" y="4206240"/>
            <a:ext cx="1463040" cy="502920"/>
          </a:xfrm>
          <a:prstGeom prst="rect">
            <a:avLst/>
          </a:prstGeom>
          <a:solidFill>
            <a:srgbClr val="9FB8B4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858000" y="4206240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poly(dT)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548640" y="4892040"/>
            <a:ext cx="1097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Read 2</a:t>
            </a:r>
            <a:endParaRPr lang="en-US" sz="1500" dirty="0"/>
          </a:p>
        </p:txBody>
      </p:sp>
      <p:sp>
        <p:nvSpPr>
          <p:cNvPr id="23" name="Shape 21"/>
          <p:cNvSpPr/>
          <p:nvPr/>
        </p:nvSpPr>
        <p:spPr>
          <a:xfrm>
            <a:off x="1737360" y="4892040"/>
            <a:ext cx="6583680" cy="502920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1737360" y="4892040"/>
            <a:ext cx="6583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cDNA · ~90 bp → which gene</a:t>
            </a:r>
            <a:endParaRPr lang="en-US" sz="1400" dirty="0"/>
          </a:p>
        </p:txBody>
      </p:sp>
      <p:sp>
        <p:nvSpPr>
          <p:cNvPr id="25" name="Text 23"/>
          <p:cNvSpPr txBox="1"/>
          <p:nvPr/>
        </p:nvSpPr>
        <p:spPr>
          <a:xfrm>
            <a:off x="8686800" y="4160520"/>
            <a:ext cx="301752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Barcode → which cell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UMI → which molecule (removes PCR duplicates)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cDNA → which gene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74320"/>
            <a:ext cx="110642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Cell Ranger: from FASTQ to count matrix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463040"/>
            <a:ext cx="2532888" cy="1325880"/>
          </a:xfrm>
          <a:prstGeom prst="roundRect">
            <a:avLst>
              <a:gd name="adj" fmla="val 6897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58368" y="1536192"/>
            <a:ext cx="2313432" cy="11795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Align</a:t>
            </a:r>
            <a:endParaRPr lang="en-US" sz="1600" dirty="0"/>
          </a:p>
          <a:p>
            <a:pPr algn="ctr" indent="0" marL="0">
              <a:buNone/>
            </a:pPr>
            <a:r>
              <a:rPr lang="en-US" sz="1300" dirty="0">
                <a:solidFill>
                  <a:schemeClr val="bg1"/>
                </a:solidFill>
              </a:rPr>
              <a:t>STAR to genome + annotation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 rot="5400000">
            <a:off x="3113532" y="2034540"/>
            <a:ext cx="256032" cy="182880"/>
          </a:xfrm>
          <a:prstGeom prst="triangle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401568" y="1463040"/>
            <a:ext cx="2532888" cy="1325880"/>
          </a:xfrm>
          <a:prstGeom prst="roundRect">
            <a:avLst>
              <a:gd name="adj" fmla="val 6897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3511296" y="1536192"/>
            <a:ext cx="2313432" cy="11795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Barcodes</a:t>
            </a:r>
            <a:endParaRPr lang="en-US" sz="1600" dirty="0"/>
          </a:p>
          <a:p>
            <a:pPr algn="ctr" indent="0" marL="0">
              <a:buNone/>
            </a:pPr>
            <a:r>
              <a:rPr lang="en-US" sz="1300" dirty="0">
                <a:solidFill>
                  <a:schemeClr val="bg1"/>
                </a:solidFill>
              </a:rPr>
              <a:t>Correct against the 10x whitelist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 rot="5400000">
            <a:off x="5966460" y="2034540"/>
            <a:ext cx="256032" cy="182880"/>
          </a:xfrm>
          <a:prstGeom prst="triangle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254496" y="1463040"/>
            <a:ext cx="2532888" cy="1325880"/>
          </a:xfrm>
          <a:prstGeom prst="roundRect">
            <a:avLst>
              <a:gd name="adj" fmla="val 6897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364224" y="1536192"/>
            <a:ext cx="2313432" cy="11795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Count UMIs</a:t>
            </a:r>
            <a:endParaRPr lang="en-US" sz="1600" dirty="0"/>
          </a:p>
          <a:p>
            <a:pPr algn="ctr" indent="0" marL="0">
              <a:buNone/>
            </a:pPr>
            <a:r>
              <a:rPr lang="en-US" sz="1300" dirty="0">
                <a:solidFill>
                  <a:schemeClr val="bg1"/>
                </a:solidFill>
              </a:rPr>
              <a:t>Same barcode + UMI + gene = 1 molecule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 rot="5400000">
            <a:off x="8819388" y="2034540"/>
            <a:ext cx="256032" cy="182880"/>
          </a:xfrm>
          <a:prstGeom prst="triangle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107424" y="1463040"/>
            <a:ext cx="2532888" cy="1325880"/>
          </a:xfrm>
          <a:prstGeom prst="roundRect">
            <a:avLst>
              <a:gd name="adj" fmla="val 6897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9217152" y="1536192"/>
            <a:ext cx="2313432" cy="11795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Call cells</a:t>
            </a:r>
            <a:endParaRPr lang="en-US" sz="1600" dirty="0"/>
          </a:p>
          <a:p>
            <a:pPr algn="ctr" indent="0" marL="0">
              <a:buNone/>
            </a:pPr>
            <a:r>
              <a:rPr lang="en-US" sz="1300" dirty="0">
                <a:solidFill>
                  <a:schemeClr val="bg1"/>
                </a:solidFill>
              </a:rPr>
              <a:t>Separate cells from empty droplets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548640" y="3108960"/>
            <a:ext cx="6766560" cy="1143000"/>
          </a:xfrm>
          <a:prstGeom prst="roundRect">
            <a:avLst>
              <a:gd name="adj" fmla="val 8000"/>
            </a:avLst>
          </a:prstGeom>
          <a:solidFill>
            <a:srgbClr val="17262B"/>
          </a:solidFill>
          <a:ln w="12700">
            <a:solidFill>
              <a:srgbClr val="17262B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731520" y="3154680"/>
            <a:ext cx="6492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7F2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cellranger count --id=sample1 \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D7F2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--transcriptome=refdata-gex-GRCh38-2024-A \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D7F2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--fastqs=fastqs/ --sample=sample1 --create-bam=true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7589520" y="3108960"/>
            <a:ext cx="4050792" cy="2971800"/>
          </a:xfrm>
          <a:prstGeom prst="roundRect">
            <a:avLst>
              <a:gd name="adj" fmla="val 369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818120" y="3337560"/>
            <a:ext cx="594360" cy="594360"/>
          </a:xfrm>
          <a:prstGeom prst="ellipse">
            <a:avLst/>
          </a:prstGeom>
          <a:solidFill>
            <a:srgbClr val="6C5B7B"/>
          </a:solidFill>
          <a:ln w="12700">
            <a:solidFill>
              <a:srgbClr val="6C5B7B"/>
            </a:solidFill>
            <a:prstDash val="solid"/>
          </a:ln>
        </p:spPr>
      </p:sp>
      <p:pic>
        <p:nvPicPr>
          <p:cNvPr id="1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66710" y="3486150"/>
            <a:ext cx="297180" cy="297180"/>
          </a:xfrm>
          <a:prstGeom prst="rect">
            <a:avLst/>
          </a:prstGeom>
        </p:spPr>
      </p:pic>
      <p:sp>
        <p:nvSpPr>
          <p:cNvPr id="19" name="Text 16"/>
          <p:cNvSpPr txBox="1"/>
          <p:nvPr/>
        </p:nvSpPr>
        <p:spPr>
          <a:xfrm>
            <a:off x="8549640" y="3337560"/>
            <a:ext cx="286207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Open-source alternatives</a:t>
            </a:r>
            <a:endParaRPr lang="en-US" sz="1700" dirty="0"/>
          </a:p>
        </p:txBody>
      </p:sp>
      <p:sp>
        <p:nvSpPr>
          <p:cNvPr id="20" name="Text 17"/>
          <p:cNvSpPr txBox="1"/>
          <p:nvPr/>
        </p:nvSpPr>
        <p:spPr>
          <a:xfrm>
            <a:off x="7818120" y="4069080"/>
            <a:ext cx="3593592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STARsolo</a:t>
            </a:r>
            <a:endParaRPr lang="en-US" sz="16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alevin-fry / simpleaf</a:t>
            </a:r>
            <a:endParaRPr lang="en-US" sz="16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kallisto | bustools</a:t>
            </a:r>
            <a:endParaRPr lang="en-US" sz="16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Faster, free, run anywhere</a:t>
            </a:r>
            <a:endParaRPr lang="en-US" sz="1600" dirty="0"/>
          </a:p>
        </p:txBody>
      </p:sp>
      <p:sp>
        <p:nvSpPr>
          <p:cNvPr id="21" name="Text 18"/>
          <p:cNvSpPr txBox="1"/>
          <p:nvPr/>
        </p:nvSpPr>
        <p:spPr>
          <a:xfrm>
            <a:off x="548640" y="4480560"/>
            <a:ext cx="6766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Needs a Linux server (≥ 64 GB RAM), not Colab. </a:t>
            </a:r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One run per sample; use cellranger multi for multiplexed or multi-modal libraries.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74320"/>
            <a:ext cx="110642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Cell Ranger gives you</a:t>
            </a:r>
            <a:endParaRPr lang="en-US" sz="32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17320"/>
          <a:ext cx="6675120" cy="914400"/>
        </p:xfrm>
        <a:graphic>
          <a:graphicData uri="http://schemas.openxmlformats.org/drawingml/2006/table">
            <a:tbl>
              <a:tblPr/>
              <a:tblGrid>
                <a:gridCol w="3017520"/>
                <a:gridCol w="365760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File in outs/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C4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Use it for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C4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7262B"/>
                          </a:solidFill>
                        </a:rPr>
                        <a:t>web_summary.html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7262B"/>
                          </a:solidFill>
                        </a:rPr>
                        <a:t>QC report: always open it first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3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7262B"/>
                          </a:solidFill>
                        </a:rPr>
                        <a:t>filtered_feature_bc_matrix(.h5)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7262B"/>
                          </a:solidFill>
                        </a:rPr>
                        <a:t>Counts of called cells → our analysis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7262B"/>
                          </a:solidFill>
                        </a:rPr>
                        <a:t>raw_feature_bc_matrix(.h5)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7262B"/>
                          </a:solidFill>
                        </a:rPr>
                        <a:t>All barcodes → ambient RNA removal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3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7262B"/>
                          </a:solidFill>
                        </a:rPr>
                        <a:t>metrics_summary.csv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7262B"/>
                          </a:solidFill>
                        </a:rPr>
                        <a:t>Compare samples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7262B"/>
                          </a:solidFill>
                        </a:rPr>
                        <a:t>possorted_genome_bam.bam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7262B"/>
                          </a:solidFill>
                        </a:rPr>
                        <a:t>Velocity, genotyping (rarely)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3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7262B"/>
                          </a:solidFill>
                        </a:rPr>
                        <a:t>cloupe.cloupe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7262B"/>
                          </a:solidFill>
                        </a:rPr>
                        <a:t>Loupe Browser exploration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7680960" y="1417320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Check in web_summary.html</a:t>
            </a:r>
            <a:endParaRPr lang="en-US" sz="1700" dirty="0"/>
          </a:p>
        </p:txBody>
      </p:sp>
      <p:sp>
        <p:nvSpPr>
          <p:cNvPr id="5" name="Text 2"/>
          <p:cNvSpPr txBox="1"/>
          <p:nvPr/>
        </p:nvSpPr>
        <p:spPr>
          <a:xfrm>
            <a:off x="7680960" y="1920240"/>
            <a:ext cx="3931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&gt; 70 %</a:t>
            </a:r>
            <a:endParaRPr lang="en-US" sz="4000" dirty="0"/>
          </a:p>
        </p:txBody>
      </p:sp>
      <p:sp>
        <p:nvSpPr>
          <p:cNvPr id="6" name="Text 3"/>
          <p:cNvSpPr txBox="1"/>
          <p:nvPr/>
        </p:nvSpPr>
        <p:spPr>
          <a:xfrm>
            <a:off x="7680960" y="260604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reads in cells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7680960" y="3246120"/>
            <a:ext cx="3931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&gt; 60 %</a:t>
            </a:r>
            <a:endParaRPr lang="en-US" sz="4000" dirty="0"/>
          </a:p>
        </p:txBody>
      </p:sp>
      <p:sp>
        <p:nvSpPr>
          <p:cNvPr id="8" name="Text 5"/>
          <p:cNvSpPr txBox="1"/>
          <p:nvPr/>
        </p:nvSpPr>
        <p:spPr>
          <a:xfrm>
            <a:off x="7680960" y="393192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reads mapped to transcriptome</a:t>
            </a:r>
            <a:endParaRPr lang="en-US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7680960" y="4572000"/>
            <a:ext cx="3931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≥ 1,000</a:t>
            </a:r>
            <a:endParaRPr lang="en-US" sz="4000" dirty="0"/>
          </a:p>
        </p:txBody>
      </p:sp>
      <p:sp>
        <p:nvSpPr>
          <p:cNvPr id="10" name="Text 7"/>
          <p:cNvSpPr txBox="1"/>
          <p:nvPr/>
        </p:nvSpPr>
        <p:spPr>
          <a:xfrm>
            <a:off x="7680960" y="525780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median genes per cell (tissue-dependent)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74320"/>
            <a:ext cx="110642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workflow we follow today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554480"/>
            <a:ext cx="1581912" cy="1645920"/>
          </a:xfrm>
          <a:prstGeom prst="roundRect">
            <a:avLst>
              <a:gd name="adj" fmla="val 5780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58368" y="1627632"/>
            <a:ext cx="1362456" cy="1499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chemeClr val="bg1"/>
                </a:solidFill>
              </a:rPr>
              <a:t>00</a:t>
            </a:r>
            <a:endParaRPr lang="en-US" sz="1700" dirty="0"/>
          </a:p>
          <a:p>
            <a:pPr algn="ctr"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Load matrix · AnnData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 rot="5400000">
            <a:off x="2162556" y="2286000"/>
            <a:ext cx="256032" cy="182880"/>
          </a:xfrm>
          <a:prstGeom prst="triangle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450592" y="1554480"/>
            <a:ext cx="1581912" cy="1645920"/>
          </a:xfrm>
          <a:prstGeom prst="roundRect">
            <a:avLst>
              <a:gd name="adj" fmla="val 5780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2560320" y="1627632"/>
            <a:ext cx="1362456" cy="1499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chemeClr val="bg1"/>
                </a:solidFill>
              </a:rPr>
              <a:t>01</a:t>
            </a:r>
            <a:endParaRPr lang="en-US" sz="1700" dirty="0"/>
          </a:p>
          <a:p>
            <a:pPr algn="ctr"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QC · doublets · normalize · HVGs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 rot="5400000">
            <a:off x="4064508" y="2286000"/>
            <a:ext cx="256032" cy="182880"/>
          </a:xfrm>
          <a:prstGeom prst="triangle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352544" y="1554480"/>
            <a:ext cx="1581912" cy="1645920"/>
          </a:xfrm>
          <a:prstGeom prst="roundRect">
            <a:avLst>
              <a:gd name="adj" fmla="val 5780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462272" y="1627632"/>
            <a:ext cx="1362456" cy="1499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chemeClr val="bg1"/>
                </a:solidFill>
              </a:rPr>
              <a:t>02</a:t>
            </a:r>
            <a:endParaRPr lang="en-US" sz="1700" dirty="0"/>
          </a:p>
          <a:p>
            <a:pPr algn="ctr"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PCA · kNN · UMAP · Leiden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 rot="5400000">
            <a:off x="5966460" y="2286000"/>
            <a:ext cx="256032" cy="182880"/>
          </a:xfrm>
          <a:prstGeom prst="triangle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254496" y="1554480"/>
            <a:ext cx="1581912" cy="1645920"/>
          </a:xfrm>
          <a:prstGeom prst="roundRect">
            <a:avLst>
              <a:gd name="adj" fmla="val 5780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364224" y="1627632"/>
            <a:ext cx="1362456" cy="1499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chemeClr val="bg1"/>
                </a:solidFill>
              </a:rPr>
              <a:t>03</a:t>
            </a:r>
            <a:endParaRPr lang="en-US" sz="1700" dirty="0"/>
          </a:p>
          <a:p>
            <a:pPr algn="ctr"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Annotate cell types</a:t>
            </a:r>
            <a:endParaRPr lang="en-US" sz="1700" dirty="0"/>
          </a:p>
        </p:txBody>
      </p:sp>
      <p:sp>
        <p:nvSpPr>
          <p:cNvPr id="14" name="Shape 12"/>
          <p:cNvSpPr/>
          <p:nvPr/>
        </p:nvSpPr>
        <p:spPr>
          <a:xfrm rot="5400000">
            <a:off x="7868412" y="2286000"/>
            <a:ext cx="256032" cy="182880"/>
          </a:xfrm>
          <a:prstGeom prst="triangle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156448" y="1554480"/>
            <a:ext cx="1581912" cy="1645920"/>
          </a:xfrm>
          <a:prstGeom prst="roundRect">
            <a:avLst>
              <a:gd name="adj" fmla="val 5780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266176" y="1627632"/>
            <a:ext cx="1362456" cy="1499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chemeClr val="bg1"/>
                </a:solidFill>
              </a:rPr>
              <a:t>04</a:t>
            </a:r>
            <a:endParaRPr lang="en-US" sz="1700" dirty="0"/>
          </a:p>
          <a:p>
            <a:pPr algn="ctr"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Plots · DEGs · pathways</a:t>
            </a:r>
            <a:endParaRPr lang="en-US" sz="1700" dirty="0"/>
          </a:p>
        </p:txBody>
      </p:sp>
      <p:sp>
        <p:nvSpPr>
          <p:cNvPr id="17" name="Shape 15"/>
          <p:cNvSpPr/>
          <p:nvPr/>
        </p:nvSpPr>
        <p:spPr>
          <a:xfrm rot="5400000">
            <a:off x="9770364" y="2286000"/>
            <a:ext cx="256032" cy="182880"/>
          </a:xfrm>
          <a:prstGeom prst="triangle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0058400" y="1554480"/>
            <a:ext cx="1581912" cy="1645920"/>
          </a:xfrm>
          <a:prstGeom prst="roundRect">
            <a:avLst>
              <a:gd name="adj" fmla="val 5780"/>
            </a:avLst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10168128" y="1627632"/>
            <a:ext cx="1362456" cy="1499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chemeClr val="bg1"/>
                </a:solidFill>
              </a:rPr>
              <a:t>05</a:t>
            </a:r>
            <a:endParaRPr lang="en-US" sz="1700" dirty="0"/>
          </a:p>
          <a:p>
            <a:pPr algn="ctr"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Integrate · conditions · R</a:t>
            </a:r>
            <a:endParaRPr lang="en-US" sz="1700" dirty="0"/>
          </a:p>
        </p:txBody>
      </p:sp>
      <p:sp>
        <p:nvSpPr>
          <p:cNvPr id="20" name="Shape 18"/>
          <p:cNvSpPr/>
          <p:nvPr/>
        </p:nvSpPr>
        <p:spPr>
          <a:xfrm>
            <a:off x="548640" y="3611880"/>
            <a:ext cx="5394960" cy="2468880"/>
          </a:xfrm>
          <a:prstGeom prst="roundRect">
            <a:avLst>
              <a:gd name="adj" fmla="val 444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77240" y="3840480"/>
            <a:ext cx="594360" cy="594360"/>
          </a:xfrm>
          <a:prstGeom prst="ellipse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pic>
        <p:nvPicPr>
          <p:cNvPr id="2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25830" y="3989070"/>
            <a:ext cx="297180" cy="297180"/>
          </a:xfrm>
          <a:prstGeom prst="rect">
            <a:avLst/>
          </a:prstGeom>
        </p:spPr>
      </p:pic>
      <p:sp>
        <p:nvSpPr>
          <p:cNvPr id="23" name="Text 20"/>
          <p:cNvSpPr txBox="1"/>
          <p:nvPr/>
        </p:nvSpPr>
        <p:spPr>
          <a:xfrm>
            <a:off x="1508760" y="3840480"/>
            <a:ext cx="4206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Datasets</a:t>
            </a:r>
            <a:endParaRPr lang="en-US" sz="1700" dirty="0"/>
          </a:p>
        </p:txBody>
      </p:sp>
      <p:sp>
        <p:nvSpPr>
          <p:cNvPr id="24" name="Text 21"/>
          <p:cNvSpPr txBox="1"/>
          <p:nvPr/>
        </p:nvSpPr>
        <p:spPr>
          <a:xfrm>
            <a:off x="777240" y="4572000"/>
            <a:ext cx="49377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PBMC 3k (10x): 2,700 blood cells, healthy donor → notebooks 00–04</a:t>
            </a:r>
            <a:endParaRPr lang="en-US" sz="16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Kang 2018: 8 donors, control vs IFN-β → notebook 05</a:t>
            </a:r>
            <a:endParaRPr lang="en-US" sz="1600" dirty="0"/>
          </a:p>
        </p:txBody>
      </p:sp>
      <p:sp>
        <p:nvSpPr>
          <p:cNvPr id="25" name="Shape 22"/>
          <p:cNvSpPr/>
          <p:nvPr/>
        </p:nvSpPr>
        <p:spPr>
          <a:xfrm>
            <a:off x="6245352" y="3611880"/>
            <a:ext cx="5394960" cy="2468880"/>
          </a:xfrm>
          <a:prstGeom prst="roundRect">
            <a:avLst>
              <a:gd name="adj" fmla="val 444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6473952" y="3840480"/>
            <a:ext cx="594360" cy="594360"/>
          </a:xfrm>
          <a:prstGeom prst="ellipse">
            <a:avLst/>
          </a:prstGeom>
          <a:solidFill>
            <a:srgbClr val="264653"/>
          </a:solidFill>
          <a:ln w="12700">
            <a:solidFill>
              <a:srgbClr val="264653"/>
            </a:solidFill>
            <a:prstDash val="solid"/>
          </a:ln>
        </p:spPr>
      </p:sp>
      <p:pic>
        <p:nvPicPr>
          <p:cNvPr id="2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22542" y="3989070"/>
            <a:ext cx="297180" cy="297180"/>
          </a:xfrm>
          <a:prstGeom prst="rect">
            <a:avLst/>
          </a:prstGeom>
        </p:spPr>
      </p:pic>
      <p:sp>
        <p:nvSpPr>
          <p:cNvPr id="28" name="Text 24"/>
          <p:cNvSpPr txBox="1"/>
          <p:nvPr/>
        </p:nvSpPr>
        <p:spPr>
          <a:xfrm>
            <a:off x="7205472" y="3840480"/>
            <a:ext cx="4206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Tools (scverse)</a:t>
            </a:r>
            <a:endParaRPr lang="en-US" sz="1700" dirty="0"/>
          </a:p>
        </p:txBody>
      </p:sp>
      <p:sp>
        <p:nvSpPr>
          <p:cNvPr id="29" name="Text 25"/>
          <p:cNvSpPr txBox="1"/>
          <p:nvPr/>
        </p:nvSpPr>
        <p:spPr>
          <a:xfrm>
            <a:off x="6473952" y="4572000"/>
            <a:ext cx="49377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Scanpy + AnnData for the core analysis</a:t>
            </a:r>
            <a:endParaRPr lang="en-US" sz="16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decoupler, CellTypist, harmonypy, BBKNN, PyDESeq2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74320"/>
            <a:ext cx="110642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AnnData: one object for everything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2743200" y="2103120"/>
            <a:ext cx="3840480" cy="2926080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2743200" y="2103120"/>
            <a:ext cx="384048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</a:rPr>
              <a:t>X</a:t>
            </a:r>
            <a:endParaRPr lang="en-US" sz="30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cells × genes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2743200" y="1463040"/>
            <a:ext cx="3840480" cy="548640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2743200" y="1463040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var · one row per gene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48640" y="2103120"/>
            <a:ext cx="2103120" cy="2926080"/>
          </a:xfrm>
          <a:prstGeom prst="rect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94360" y="2103120"/>
            <a:ext cx="201168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obs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one row per cell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(QC, clusters, cell types)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7086600" y="1463040"/>
            <a:ext cx="4572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B3C4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adata.layers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7262B"/>
                </a:solidFill>
              </a:rPr>
              <a:t>other matrices of the same shape (raw counts)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7086600" y="2359152"/>
            <a:ext cx="4572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B3C4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adata.obsm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7262B"/>
                </a:solidFill>
              </a:rPr>
              <a:t>embeddings per cell (X_pca, X_umap)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7086600" y="3255264"/>
            <a:ext cx="4572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B3C4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adata.obsp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7262B"/>
                </a:solidFill>
              </a:rPr>
              <a:t>cell–cell graphs (neighbors)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7086600" y="4151376"/>
            <a:ext cx="4572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B3C4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adata.uns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7262B"/>
                </a:solidFill>
              </a:rPr>
              <a:t>everything else (colors, parameters, DE results)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7086600" y="5047488"/>
            <a:ext cx="4572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B3C4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adata.raw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7262B"/>
                </a:solidFill>
              </a:rPr>
              <a:t>frozen copy of log-normalized data, all genes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548640" y="5349240"/>
            <a:ext cx="6035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B70"/>
                </a:solidFill>
              </a:rPr>
              <a:t>Saved as .h5ad · R equivalents: Seurat, SingleCellExperiment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74320"/>
            <a:ext cx="110642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 · Quality control: not every barcode is a good cell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463040"/>
            <a:ext cx="3566160" cy="2651760"/>
          </a:xfrm>
          <a:prstGeom prst="roundRect">
            <a:avLst>
              <a:gd name="adj" fmla="val 413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7240" y="1691640"/>
            <a:ext cx="594360" cy="594360"/>
          </a:xfrm>
          <a:prstGeom prst="ellipse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25830" y="1840230"/>
            <a:ext cx="297180" cy="29718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508760" y="1691640"/>
            <a:ext cx="2377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Dying / broken cells</a:t>
            </a:r>
            <a:endParaRPr lang="en-US" sz="1700" dirty="0"/>
          </a:p>
        </p:txBody>
      </p:sp>
      <p:sp>
        <p:nvSpPr>
          <p:cNvPr id="7" name="Text 4"/>
          <p:cNvSpPr txBox="1"/>
          <p:nvPr/>
        </p:nvSpPr>
        <p:spPr>
          <a:xfrm>
            <a:off x="777240" y="2423160"/>
            <a:ext cx="31089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dirty="0">
                <a:solidFill>
                  <a:schemeClr val="tx1"/>
                </a:solidFill>
              </a:rPr>
              <a:t>Few genes, high % mitochondrial reads. Filter with % MT and min. genes.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4306824" y="1463040"/>
            <a:ext cx="3566160" cy="2651760"/>
          </a:xfrm>
          <a:prstGeom prst="roundRect">
            <a:avLst>
              <a:gd name="adj" fmla="val 413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4535424" y="1691640"/>
            <a:ext cx="594360" cy="594360"/>
          </a:xfrm>
          <a:prstGeom prst="ellipse">
            <a:avLst/>
          </a:prstGeom>
          <a:solidFill>
            <a:srgbClr val="6C5B7B"/>
          </a:solidFill>
          <a:ln w="12700">
            <a:solidFill>
              <a:srgbClr val="6C5B7B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84014" y="1840230"/>
            <a:ext cx="297180" cy="29718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5266944" y="1691640"/>
            <a:ext cx="2377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Doublets</a:t>
            </a:r>
            <a:endParaRPr lang="en-US" sz="1700" dirty="0"/>
          </a:p>
        </p:txBody>
      </p:sp>
      <p:sp>
        <p:nvSpPr>
          <p:cNvPr id="12" name="Text 8"/>
          <p:cNvSpPr txBox="1"/>
          <p:nvPr/>
        </p:nvSpPr>
        <p:spPr>
          <a:xfrm>
            <a:off x="4535424" y="2423160"/>
            <a:ext cx="31089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dirty="0">
                <a:solidFill>
                  <a:schemeClr val="tx1"/>
                </a:solidFill>
              </a:rPr>
              <a:t>Two cells in one droplet: too many UMIs and mixed markers. Detect with Scrublet / scDblFinder.</a:t>
            </a:r>
            <a:endParaRPr lang="en-US" sz="1600" dirty="0"/>
          </a:p>
        </p:txBody>
      </p:sp>
      <p:sp>
        <p:nvSpPr>
          <p:cNvPr id="13" name="Shape 9"/>
          <p:cNvSpPr/>
          <p:nvPr/>
        </p:nvSpPr>
        <p:spPr>
          <a:xfrm>
            <a:off x="8065008" y="1463040"/>
            <a:ext cx="3566160" cy="2651760"/>
          </a:xfrm>
          <a:prstGeom prst="roundRect">
            <a:avLst>
              <a:gd name="adj" fmla="val 413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8293608" y="1691640"/>
            <a:ext cx="594360" cy="594360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42198" y="1840230"/>
            <a:ext cx="297180" cy="297180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9025128" y="1691640"/>
            <a:ext cx="2377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Ambient RNA</a:t>
            </a:r>
            <a:endParaRPr lang="en-US" sz="1700" dirty="0"/>
          </a:p>
        </p:txBody>
      </p:sp>
      <p:sp>
        <p:nvSpPr>
          <p:cNvPr id="17" name="Text 12"/>
          <p:cNvSpPr txBox="1"/>
          <p:nvPr/>
        </p:nvSpPr>
        <p:spPr>
          <a:xfrm>
            <a:off x="8293608" y="2423160"/>
            <a:ext cx="31089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dirty="0">
                <a:solidFill>
                  <a:schemeClr val="tx1"/>
                </a:solidFill>
              </a:rPr>
              <a:t>Free mRNA in every droplet. Correct with SoupX, CellBender, scAR.</a:t>
            </a:r>
            <a:endParaRPr lang="en-US" sz="1600" dirty="0"/>
          </a:p>
        </p:txBody>
      </p:sp>
      <p:sp>
        <p:nvSpPr>
          <p:cNvPr id="18" name="Shape 13"/>
          <p:cNvSpPr/>
          <p:nvPr/>
        </p:nvSpPr>
        <p:spPr>
          <a:xfrm>
            <a:off x="548640" y="4389120"/>
            <a:ext cx="11091672" cy="1645920"/>
          </a:xfrm>
          <a:prstGeom prst="roundRect">
            <a:avLst>
              <a:gd name="adj" fmla="val 5556"/>
            </a:avLst>
          </a:prstGeom>
          <a:solidFill>
            <a:srgbClr val="0B3C49"/>
          </a:solidFill>
          <a:ln w="12700">
            <a:solidFill>
              <a:srgbClr val="0B3C49"/>
            </a:solidFill>
            <a:prstDash val="solid"/>
          </a:ln>
        </p:spPr>
      </p:sp>
      <p:sp>
        <p:nvSpPr>
          <p:cNvPr id="19" name="Text 14"/>
          <p:cNvSpPr txBox="1"/>
          <p:nvPr/>
        </p:nvSpPr>
        <p:spPr>
          <a:xfrm>
            <a:off x="822960" y="4480560"/>
            <a:ext cx="106070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4A261"/>
                </a:solidFill>
              </a:rPr>
              <a:t>Choosing thresholds</a:t>
            </a:r>
            <a:endParaRPr lang="en-US" sz="1800" dirty="0"/>
          </a:p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</a:rPr>
              <a:t>Fixed cut-offs (e.g. 200–2,500 genes, &lt; 5 % MT for PBMCs) or data-driven: &gt; 5 MADs from the median. Tissue matters: neurons and cardiomyocytes have naturally high % MT. Always report what you used.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74320"/>
            <a:ext cx="110642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01–02 · From counts to a low-dimensional space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463040"/>
            <a:ext cx="2532888" cy="1463040"/>
          </a:xfrm>
          <a:prstGeom prst="roundRect">
            <a:avLst>
              <a:gd name="adj" fmla="val 6250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58368" y="1536192"/>
            <a:ext cx="2313432" cy="1316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Raw counts</a:t>
            </a:r>
            <a:endParaRPr lang="en-US" sz="1600" dirty="0"/>
          </a:p>
          <a:p>
            <a:pPr algn="ctr" indent="0" marL="0">
              <a:buNone/>
            </a:pPr>
            <a:r>
              <a:rPr lang="en-US" sz="1300" dirty="0">
                <a:solidFill>
                  <a:schemeClr val="bg1"/>
                </a:solidFill>
              </a:rPr>
              <a:t>~30k genes, depth differs per cell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 rot="5400000">
            <a:off x="3113532" y="2103120"/>
            <a:ext cx="256032" cy="182880"/>
          </a:xfrm>
          <a:prstGeom prst="triangle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401568" y="1463040"/>
            <a:ext cx="2532888" cy="1463040"/>
          </a:xfrm>
          <a:prstGeom prst="roundRect">
            <a:avLst>
              <a:gd name="adj" fmla="val 6250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3511296" y="1536192"/>
            <a:ext cx="2313432" cy="1316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Normalize + log</a:t>
            </a:r>
            <a:endParaRPr lang="en-US" sz="1600" dirty="0"/>
          </a:p>
          <a:p>
            <a:pPr algn="ctr" indent="0" marL="0">
              <a:buNone/>
            </a:pPr>
            <a:r>
              <a:rPr lang="en-US" sz="1300" dirty="0">
                <a:solidFill>
                  <a:schemeClr val="bg1"/>
                </a:solidFill>
              </a:rPr>
              <a:t>counts per 10k → log(x+1)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 rot="5400000">
            <a:off x="5966460" y="2103120"/>
            <a:ext cx="256032" cy="182880"/>
          </a:xfrm>
          <a:prstGeom prst="triangle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254496" y="1463040"/>
            <a:ext cx="2532888" cy="1463040"/>
          </a:xfrm>
          <a:prstGeom prst="roundRect">
            <a:avLst>
              <a:gd name="adj" fmla="val 6250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364224" y="1536192"/>
            <a:ext cx="2313432" cy="1316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HVGs</a:t>
            </a:r>
            <a:endParaRPr lang="en-US" sz="1600" dirty="0"/>
          </a:p>
          <a:p>
            <a:pPr algn="ctr" indent="0" marL="0">
              <a:buNone/>
            </a:pPr>
            <a:r>
              <a:rPr lang="en-US" sz="1300" dirty="0">
                <a:solidFill>
                  <a:schemeClr val="bg1"/>
                </a:solidFill>
              </a:rPr>
              <a:t>keep ~2,000 informative genes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 rot="5400000">
            <a:off x="8819388" y="2103120"/>
            <a:ext cx="256032" cy="182880"/>
          </a:xfrm>
          <a:prstGeom prst="triangle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107424" y="1463040"/>
            <a:ext cx="2532888" cy="1463040"/>
          </a:xfrm>
          <a:prstGeom prst="roundRect">
            <a:avLst>
              <a:gd name="adj" fmla="val 6250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9217152" y="1536192"/>
            <a:ext cx="2313432" cy="1316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PCA</a:t>
            </a:r>
            <a:endParaRPr lang="en-US" sz="1600" dirty="0"/>
          </a:p>
          <a:p>
            <a:pPr algn="ctr" indent="0" marL="0">
              <a:buNone/>
            </a:pPr>
            <a:r>
              <a:rPr lang="en-US" sz="1300" dirty="0">
                <a:solidFill>
                  <a:schemeClr val="bg1"/>
                </a:solidFill>
              </a:rPr>
              <a:t>~30 axes capture the biology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548640" y="3246120"/>
            <a:ext cx="5394960" cy="2788920"/>
          </a:xfrm>
          <a:prstGeom prst="roundRect">
            <a:avLst>
              <a:gd name="adj" fmla="val 393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77240" y="3474720"/>
            <a:ext cx="594360" cy="594360"/>
          </a:xfrm>
          <a:prstGeom prst="ellipse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pic>
        <p:nvPicPr>
          <p:cNvPr id="1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25830" y="3623310"/>
            <a:ext cx="297180" cy="297180"/>
          </a:xfrm>
          <a:prstGeom prst="rect">
            <a:avLst/>
          </a:prstGeom>
        </p:spPr>
      </p:pic>
      <p:sp>
        <p:nvSpPr>
          <p:cNvPr id="17" name="Text 14"/>
          <p:cNvSpPr txBox="1"/>
          <p:nvPr/>
        </p:nvSpPr>
        <p:spPr>
          <a:xfrm>
            <a:off x="1508760" y="3474720"/>
            <a:ext cx="4206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Keep the raw counts!</a:t>
            </a:r>
            <a:endParaRPr lang="en-US" sz="1700" dirty="0"/>
          </a:p>
        </p:txBody>
      </p:sp>
      <p:sp>
        <p:nvSpPr>
          <p:cNvPr id="18" name="Text 15"/>
          <p:cNvSpPr txBox="1"/>
          <p:nvPr/>
        </p:nvSpPr>
        <p:spPr>
          <a:xfrm>
            <a:off x="777240" y="4206240"/>
            <a:ext cx="493776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adata.layers["counts"] before normalizing</a:t>
            </a:r>
            <a:endParaRPr lang="en-US" sz="16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Pseudobulk DE and scVI need integers</a:t>
            </a:r>
            <a:endParaRPr lang="en-US" sz="16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Alternatives: scran, Pearson residuals, SCTransform</a:t>
            </a:r>
            <a:endParaRPr lang="en-US" sz="1600" dirty="0"/>
          </a:p>
        </p:txBody>
      </p:sp>
      <p:sp>
        <p:nvSpPr>
          <p:cNvPr id="19" name="Shape 16"/>
          <p:cNvSpPr/>
          <p:nvPr/>
        </p:nvSpPr>
        <p:spPr>
          <a:xfrm>
            <a:off x="6245352" y="3246120"/>
            <a:ext cx="5394960" cy="2788920"/>
          </a:xfrm>
          <a:prstGeom prst="roundRect">
            <a:avLst>
              <a:gd name="adj" fmla="val 393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6473952" y="3474720"/>
            <a:ext cx="594360" cy="594360"/>
          </a:xfrm>
          <a:prstGeom prst="ellipse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pic>
        <p:nvPicPr>
          <p:cNvPr id="2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22542" y="3623310"/>
            <a:ext cx="297180" cy="297180"/>
          </a:xfrm>
          <a:prstGeom prst="rect">
            <a:avLst/>
          </a:prstGeom>
        </p:spPr>
      </p:pic>
      <p:sp>
        <p:nvSpPr>
          <p:cNvPr id="22" name="Text 18"/>
          <p:cNvSpPr txBox="1"/>
          <p:nvPr/>
        </p:nvSpPr>
        <p:spPr>
          <a:xfrm>
            <a:off x="7205472" y="3474720"/>
            <a:ext cx="4206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How many PCs?</a:t>
            </a:r>
            <a:endParaRPr lang="en-US" sz="1700" dirty="0"/>
          </a:p>
        </p:txBody>
      </p:sp>
      <p:sp>
        <p:nvSpPr>
          <p:cNvPr id="23" name="Text 19"/>
          <p:cNvSpPr txBox="1"/>
          <p:nvPr/>
        </p:nvSpPr>
        <p:spPr>
          <a:xfrm>
            <a:off x="6473952" y="4206240"/>
            <a:ext cx="493776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Look for the elbow in the variance plot</a:t>
            </a:r>
            <a:endParaRPr lang="en-US" sz="16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A few too many is safer than too few</a:t>
            </a:r>
            <a:endParaRPr lang="en-US" sz="16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PBMC 3k: elbow ~10–15, we use 30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74320"/>
            <a:ext cx="110642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 · Neighbors, UMAP and Leiden clustering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 flipH="1">
            <a:off x="1645920" y="1737360"/>
            <a:ext cx="548640" cy="274320"/>
          </a:xfrm>
          <a:prstGeom prst="line">
            <a:avLst/>
          </a:prstGeom>
          <a:noFill/>
          <a:ln w="15875">
            <a:solidFill>
              <a:srgbClr val="9FB8B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645920" y="2011680"/>
            <a:ext cx="365760" cy="548640"/>
          </a:xfrm>
          <a:prstGeom prst="line">
            <a:avLst/>
          </a:prstGeom>
          <a:noFill/>
          <a:ln w="15875">
            <a:solidFill>
              <a:srgbClr val="9FB8B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194560" y="1737360"/>
            <a:ext cx="457200" cy="548640"/>
          </a:xfrm>
          <a:prstGeom prst="line">
            <a:avLst/>
          </a:prstGeom>
          <a:noFill/>
          <a:ln w="15875">
            <a:solidFill>
              <a:srgbClr val="9FB8B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 flipH="1">
            <a:off x="2011680" y="2286000"/>
            <a:ext cx="640080" cy="274320"/>
          </a:xfrm>
          <a:prstGeom prst="line">
            <a:avLst/>
          </a:prstGeom>
          <a:noFill/>
          <a:ln w="15875">
            <a:solidFill>
              <a:srgbClr val="9FB8B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 flipH="1">
            <a:off x="1554480" y="2560320"/>
            <a:ext cx="457200" cy="274320"/>
          </a:xfrm>
          <a:prstGeom prst="line">
            <a:avLst/>
          </a:prstGeom>
          <a:noFill/>
          <a:ln w="15875">
            <a:solidFill>
              <a:srgbClr val="9FB8B4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 flipH="1">
            <a:off x="1554480" y="2011680"/>
            <a:ext cx="91440" cy="822960"/>
          </a:xfrm>
          <a:prstGeom prst="line">
            <a:avLst/>
          </a:prstGeom>
          <a:noFill/>
          <a:ln w="15875">
            <a:solidFill>
              <a:srgbClr val="9FB8B4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114800" y="1828800"/>
            <a:ext cx="548640" cy="274320"/>
          </a:xfrm>
          <a:prstGeom prst="line">
            <a:avLst/>
          </a:prstGeom>
          <a:noFill/>
          <a:ln w="15875">
            <a:solidFill>
              <a:srgbClr val="9FB8B4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 flipH="1">
            <a:off x="4297680" y="2103120"/>
            <a:ext cx="365760" cy="457200"/>
          </a:xfrm>
          <a:prstGeom prst="line">
            <a:avLst/>
          </a:prstGeom>
          <a:noFill/>
          <a:ln w="15875">
            <a:solidFill>
              <a:srgbClr val="9FB8B4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114800" y="1828800"/>
            <a:ext cx="182880" cy="731520"/>
          </a:xfrm>
          <a:prstGeom prst="line">
            <a:avLst/>
          </a:prstGeom>
          <a:noFill/>
          <a:ln w="15875">
            <a:solidFill>
              <a:srgbClr val="9FB8B4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 flipH="1">
            <a:off x="4663440" y="1645920"/>
            <a:ext cx="182880" cy="457200"/>
          </a:xfrm>
          <a:prstGeom prst="line">
            <a:avLst/>
          </a:prstGeom>
          <a:noFill/>
          <a:ln w="15875">
            <a:solidFill>
              <a:srgbClr val="9FB8B4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 flipH="1">
            <a:off x="4114800" y="1645920"/>
            <a:ext cx="731520" cy="182880"/>
          </a:xfrm>
          <a:prstGeom prst="line">
            <a:avLst/>
          </a:prstGeom>
          <a:noFill/>
          <a:ln w="15875">
            <a:solidFill>
              <a:srgbClr val="9FB8B4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 flipH="1">
            <a:off x="2926080" y="3749040"/>
            <a:ext cx="548640" cy="274320"/>
          </a:xfrm>
          <a:prstGeom prst="line">
            <a:avLst/>
          </a:prstGeom>
          <a:noFill/>
          <a:ln w="15875">
            <a:solidFill>
              <a:srgbClr val="9FB8B4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 flipH="1">
            <a:off x="3200400" y="3749040"/>
            <a:ext cx="274320" cy="731520"/>
          </a:xfrm>
          <a:prstGeom prst="line">
            <a:avLst/>
          </a:prstGeom>
          <a:noFill/>
          <a:ln w="15875">
            <a:solidFill>
              <a:srgbClr val="9FB8B4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926080" y="4023360"/>
            <a:ext cx="274320" cy="457200"/>
          </a:xfrm>
          <a:prstGeom prst="line">
            <a:avLst/>
          </a:prstGeom>
          <a:noFill/>
          <a:ln w="15875">
            <a:solidFill>
              <a:srgbClr val="9FB8B4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 flipH="1">
            <a:off x="3200400" y="4297680"/>
            <a:ext cx="640080" cy="182880"/>
          </a:xfrm>
          <a:prstGeom prst="line">
            <a:avLst/>
          </a:prstGeom>
          <a:noFill/>
          <a:ln w="15875">
            <a:solidFill>
              <a:srgbClr val="9FB8B4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474720" y="3749040"/>
            <a:ext cx="365760" cy="548640"/>
          </a:xfrm>
          <a:prstGeom prst="line">
            <a:avLst/>
          </a:prstGeom>
          <a:noFill/>
          <a:ln w="15875">
            <a:solidFill>
              <a:srgbClr val="9FB8B4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 flipH="1">
            <a:off x="2651760" y="1828800"/>
            <a:ext cx="1463040" cy="457200"/>
          </a:xfrm>
          <a:prstGeom prst="line">
            <a:avLst/>
          </a:prstGeom>
          <a:noFill/>
          <a:ln w="15875">
            <a:solidFill>
              <a:srgbClr val="9FB8B4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651760" y="2286000"/>
            <a:ext cx="822960" cy="1463040"/>
          </a:xfrm>
          <a:prstGeom prst="line">
            <a:avLst/>
          </a:prstGeom>
          <a:noFill/>
          <a:ln w="15875">
            <a:solidFill>
              <a:srgbClr val="9FB8B4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517904" y="1883664"/>
            <a:ext cx="256032" cy="256032"/>
          </a:xfrm>
          <a:prstGeom prst="ellipse">
            <a:avLst/>
          </a:prstGeom>
          <a:solidFill>
            <a:srgbClr val="2A9D8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066544" y="1609344"/>
            <a:ext cx="256032" cy="256032"/>
          </a:xfrm>
          <a:prstGeom prst="ellipse">
            <a:avLst/>
          </a:prstGeom>
          <a:solidFill>
            <a:srgbClr val="2A9D8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883664" y="2432304"/>
            <a:ext cx="256032" cy="256032"/>
          </a:xfrm>
          <a:prstGeom prst="ellipse">
            <a:avLst/>
          </a:prstGeom>
          <a:solidFill>
            <a:srgbClr val="2A9D8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523744" y="2157984"/>
            <a:ext cx="256032" cy="256032"/>
          </a:xfrm>
          <a:prstGeom prst="ellipse">
            <a:avLst/>
          </a:prstGeom>
          <a:solidFill>
            <a:srgbClr val="2A9D8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426464" y="2706624"/>
            <a:ext cx="256032" cy="256032"/>
          </a:xfrm>
          <a:prstGeom prst="ellipse">
            <a:avLst/>
          </a:prstGeom>
          <a:solidFill>
            <a:srgbClr val="2A9D8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986784" y="1700784"/>
            <a:ext cx="256032" cy="256032"/>
          </a:xfrm>
          <a:prstGeom prst="ellipse">
            <a:avLst/>
          </a:prstGeom>
          <a:solidFill>
            <a:srgbClr val="E76F51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535424" y="1975104"/>
            <a:ext cx="256032" cy="256032"/>
          </a:xfrm>
          <a:prstGeom prst="ellipse">
            <a:avLst/>
          </a:prstGeom>
          <a:solidFill>
            <a:srgbClr val="E76F51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169664" y="2432304"/>
            <a:ext cx="256032" cy="256032"/>
          </a:xfrm>
          <a:prstGeom prst="ellipse">
            <a:avLst/>
          </a:prstGeom>
          <a:solidFill>
            <a:srgbClr val="E76F51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718304" y="1517904"/>
            <a:ext cx="256032" cy="256032"/>
          </a:xfrm>
          <a:prstGeom prst="ellipse">
            <a:avLst/>
          </a:prstGeom>
          <a:solidFill>
            <a:srgbClr val="E76F51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2798064" y="3895344"/>
            <a:ext cx="256032" cy="256032"/>
          </a:xfrm>
          <a:prstGeom prst="ellipse">
            <a:avLst/>
          </a:prstGeom>
          <a:solidFill>
            <a:srgbClr val="6C5B7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3346704" y="3621024"/>
            <a:ext cx="256032" cy="256032"/>
          </a:xfrm>
          <a:prstGeom prst="ellipse">
            <a:avLst/>
          </a:prstGeom>
          <a:solidFill>
            <a:srgbClr val="6C5B7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072384" y="4352544"/>
            <a:ext cx="256032" cy="256032"/>
          </a:xfrm>
          <a:prstGeom prst="ellipse">
            <a:avLst/>
          </a:prstGeom>
          <a:solidFill>
            <a:srgbClr val="6C5B7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3712464" y="4169664"/>
            <a:ext cx="256032" cy="256032"/>
          </a:xfrm>
          <a:prstGeom prst="ellipse">
            <a:avLst/>
          </a:prstGeom>
          <a:solidFill>
            <a:srgbClr val="6C5B7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548640" y="4892040"/>
            <a:ext cx="4572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B70"/>
                </a:solidFill>
              </a:rPr>
              <a:t>kNN graph: each cell linked to its 15 most similar cells; Leiden finds densely connected communities</a:t>
            </a:r>
            <a:endParaRPr lang="en-US" sz="1400" dirty="0"/>
          </a:p>
        </p:txBody>
      </p:sp>
      <p:sp>
        <p:nvSpPr>
          <p:cNvPr id="35" name="Shape 33"/>
          <p:cNvSpPr/>
          <p:nvPr/>
        </p:nvSpPr>
        <p:spPr>
          <a:xfrm>
            <a:off x="5486400" y="1463040"/>
            <a:ext cx="6153912" cy="219456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5715000" y="1691640"/>
            <a:ext cx="594360" cy="594360"/>
          </a:xfrm>
          <a:prstGeom prst="ellipse">
            <a:avLst/>
          </a:prstGeom>
          <a:solidFill>
            <a:srgbClr val="264653"/>
          </a:solidFill>
          <a:ln w="12700">
            <a:solidFill>
              <a:srgbClr val="264653"/>
            </a:solidFill>
            <a:prstDash val="solid"/>
          </a:ln>
        </p:spPr>
      </p:sp>
      <p:pic>
        <p:nvPicPr>
          <p:cNvPr id="3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63590" y="1840230"/>
            <a:ext cx="297180" cy="297180"/>
          </a:xfrm>
          <a:prstGeom prst="rect">
            <a:avLst/>
          </a:prstGeom>
        </p:spPr>
      </p:pic>
      <p:sp>
        <p:nvSpPr>
          <p:cNvPr id="38" name="Text 35"/>
          <p:cNvSpPr txBox="1"/>
          <p:nvPr/>
        </p:nvSpPr>
        <p:spPr>
          <a:xfrm>
            <a:off x="6446520" y="1691640"/>
            <a:ext cx="496519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UMAP is a picture, not a measurement</a:t>
            </a:r>
            <a:endParaRPr lang="en-US" sz="1700" dirty="0"/>
          </a:p>
        </p:txBody>
      </p:sp>
      <p:sp>
        <p:nvSpPr>
          <p:cNvPr id="39" name="Text 36"/>
          <p:cNvSpPr txBox="1"/>
          <p:nvPr/>
        </p:nvSpPr>
        <p:spPr>
          <a:xfrm>
            <a:off x="5715000" y="2423160"/>
            <a:ext cx="569671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Local neighborhoods are preserved</a:t>
            </a:r>
            <a:endParaRPr lang="en-US" sz="16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Distances between clusters and cluster sizes are not reliable</a:t>
            </a:r>
            <a:endParaRPr lang="en-US" sz="1600" dirty="0"/>
          </a:p>
        </p:txBody>
      </p:sp>
      <p:sp>
        <p:nvSpPr>
          <p:cNvPr id="40" name="Shape 37"/>
          <p:cNvSpPr/>
          <p:nvPr/>
        </p:nvSpPr>
        <p:spPr>
          <a:xfrm>
            <a:off x="5486400" y="3840480"/>
            <a:ext cx="6153912" cy="219456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1" name="Shape 38"/>
          <p:cNvSpPr/>
          <p:nvPr/>
        </p:nvSpPr>
        <p:spPr>
          <a:xfrm>
            <a:off x="5715000" y="4069080"/>
            <a:ext cx="594360" cy="594360"/>
          </a:xfrm>
          <a:prstGeom prst="ellipse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pic>
        <p:nvPicPr>
          <p:cNvPr id="4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63590" y="4217670"/>
            <a:ext cx="297180" cy="297180"/>
          </a:xfrm>
          <a:prstGeom prst="rect">
            <a:avLst/>
          </a:prstGeom>
        </p:spPr>
      </p:pic>
      <p:sp>
        <p:nvSpPr>
          <p:cNvPr id="43" name="Text 39"/>
          <p:cNvSpPr txBox="1"/>
          <p:nvPr/>
        </p:nvSpPr>
        <p:spPr>
          <a:xfrm>
            <a:off x="6446520" y="4069080"/>
            <a:ext cx="496519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Resolution is a choice</a:t>
            </a:r>
            <a:endParaRPr lang="en-US" sz="1700" dirty="0"/>
          </a:p>
        </p:txBody>
      </p:sp>
      <p:sp>
        <p:nvSpPr>
          <p:cNvPr id="44" name="Text 40"/>
          <p:cNvSpPr txBox="1"/>
          <p:nvPr/>
        </p:nvSpPr>
        <p:spPr>
          <a:xfrm>
            <a:off x="5715000" y="4800600"/>
            <a:ext cx="569671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Higher resolution → more, smaller clusters</a:t>
            </a:r>
            <a:endParaRPr lang="en-US" sz="16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Compare several (0.3, 0.8, 1.5) and follow the biology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74320"/>
            <a:ext cx="110642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 · Three ways to name your clusters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463040"/>
            <a:ext cx="3566160" cy="3291840"/>
          </a:xfrm>
          <a:prstGeom prst="roundRect">
            <a:avLst>
              <a:gd name="adj" fmla="val 333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7240" y="1691640"/>
            <a:ext cx="594360" cy="594360"/>
          </a:xfrm>
          <a:prstGeom prst="ellipse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25830" y="1840230"/>
            <a:ext cx="297180" cy="29718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508760" y="1691640"/>
            <a:ext cx="2377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Manual · marker genes</a:t>
            </a:r>
            <a:endParaRPr lang="en-US" sz="1700" dirty="0"/>
          </a:p>
        </p:txBody>
      </p:sp>
      <p:sp>
        <p:nvSpPr>
          <p:cNvPr id="7" name="Text 4"/>
          <p:cNvSpPr txBox="1"/>
          <p:nvPr/>
        </p:nvSpPr>
        <p:spPr>
          <a:xfrm>
            <a:off x="777240" y="2423160"/>
            <a:ext cx="310896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rank_genes_groups → top genes per cluster</a:t>
            </a:r>
            <a:endParaRPr lang="en-US" sz="16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Compare with known markers (dot plot)</a:t>
            </a:r>
            <a:endParaRPr lang="en-US" sz="16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Transparent, uses your expertise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4306824" y="1463040"/>
            <a:ext cx="3566160" cy="3291840"/>
          </a:xfrm>
          <a:prstGeom prst="roundRect">
            <a:avLst>
              <a:gd name="adj" fmla="val 333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4535424" y="1691640"/>
            <a:ext cx="594360" cy="594360"/>
          </a:xfrm>
          <a:prstGeom prst="ellipse">
            <a:avLst/>
          </a:prstGeom>
          <a:solidFill>
            <a:srgbClr val="264653"/>
          </a:solidFill>
          <a:ln w="12700">
            <a:solidFill>
              <a:srgbClr val="264653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84014" y="1840230"/>
            <a:ext cx="297180" cy="29718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5266944" y="1691640"/>
            <a:ext cx="2377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Marker databases</a:t>
            </a:r>
            <a:endParaRPr lang="en-US" sz="1700" dirty="0"/>
          </a:p>
        </p:txBody>
      </p:sp>
      <p:sp>
        <p:nvSpPr>
          <p:cNvPr id="12" name="Text 8"/>
          <p:cNvSpPr txBox="1"/>
          <p:nvPr/>
        </p:nvSpPr>
        <p:spPr>
          <a:xfrm>
            <a:off x="4535424" y="2423160"/>
            <a:ext cx="310896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PanglaoDB, CellMarker 2.0</a:t>
            </a:r>
            <a:endParaRPr lang="en-US" sz="16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Score every cell (decoupler ULM)</a:t>
            </a:r>
            <a:endParaRPr lang="en-US" sz="16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Fast, but generic lists</a:t>
            </a:r>
            <a:endParaRPr lang="en-US" sz="1600" dirty="0"/>
          </a:p>
        </p:txBody>
      </p:sp>
      <p:sp>
        <p:nvSpPr>
          <p:cNvPr id="13" name="Shape 9"/>
          <p:cNvSpPr/>
          <p:nvPr/>
        </p:nvSpPr>
        <p:spPr>
          <a:xfrm>
            <a:off x="8065008" y="1463040"/>
            <a:ext cx="3566160" cy="3291840"/>
          </a:xfrm>
          <a:prstGeom prst="roundRect">
            <a:avLst>
              <a:gd name="adj" fmla="val 333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8293608" y="1691640"/>
            <a:ext cx="594360" cy="594360"/>
          </a:xfrm>
          <a:prstGeom prst="ellipse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42198" y="1840230"/>
            <a:ext cx="297180" cy="297180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9025128" y="1691640"/>
            <a:ext cx="2377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References &amp; classifiers</a:t>
            </a:r>
            <a:endParaRPr lang="en-US" sz="1700" dirty="0"/>
          </a:p>
        </p:txBody>
      </p:sp>
      <p:sp>
        <p:nvSpPr>
          <p:cNvPr id="17" name="Text 12"/>
          <p:cNvSpPr txBox="1"/>
          <p:nvPr/>
        </p:nvSpPr>
        <p:spPr>
          <a:xfrm>
            <a:off x="8293608" y="2423160"/>
            <a:ext cx="310896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CellTypist, sc.tl.ingest, scANVI</a:t>
            </a:r>
            <a:endParaRPr lang="en-US" sz="16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R: SingleR, Azimuth</a:t>
            </a:r>
            <a:endParaRPr lang="en-US" sz="16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Reproducible; cannot find new types</a:t>
            </a:r>
            <a:endParaRPr lang="en-US" sz="1600" dirty="0"/>
          </a:p>
        </p:txBody>
      </p:sp>
      <p:sp>
        <p:nvSpPr>
          <p:cNvPr id="18" name="Shape 13"/>
          <p:cNvSpPr/>
          <p:nvPr/>
        </p:nvSpPr>
        <p:spPr>
          <a:xfrm>
            <a:off x="548640" y="4983480"/>
            <a:ext cx="11091672" cy="1051560"/>
          </a:xfrm>
          <a:prstGeom prst="roundRect">
            <a:avLst>
              <a:gd name="adj" fmla="val 8696"/>
            </a:avLst>
          </a:prstGeom>
          <a:solidFill>
            <a:srgbClr val="0B3C49"/>
          </a:solidFill>
          <a:ln w="12700">
            <a:solidFill>
              <a:srgbClr val="0B3C49"/>
            </a:solidFill>
            <a:prstDash val="solid"/>
          </a:ln>
        </p:spPr>
      </p:sp>
      <p:sp>
        <p:nvSpPr>
          <p:cNvPr id="19" name="Text 14"/>
          <p:cNvSpPr txBox="1"/>
          <p:nvPr/>
        </p:nvSpPr>
        <p:spPr>
          <a:xfrm>
            <a:off x="822960" y="4983480"/>
            <a:ext cx="106070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Combine them: agreement between independent methods is your evidence; disagreement tells you where to look closer.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74320"/>
            <a:ext cx="110642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 · Where to find references and record annotations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463040"/>
            <a:ext cx="3566160" cy="219456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7240" y="1691640"/>
            <a:ext cx="594360" cy="594360"/>
          </a:xfrm>
          <a:prstGeom prst="ellipse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25830" y="1840230"/>
            <a:ext cx="297180" cy="29718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508760" y="1691640"/>
            <a:ext cx="2377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PanglaoDB</a:t>
            </a:r>
            <a:endParaRPr lang="en-US" sz="1700" dirty="0"/>
          </a:p>
        </p:txBody>
      </p:sp>
      <p:sp>
        <p:nvSpPr>
          <p:cNvPr id="7" name="Text 4"/>
          <p:cNvSpPr txBox="1"/>
          <p:nvPr/>
        </p:nvSpPr>
        <p:spPr>
          <a:xfrm>
            <a:off x="777240" y="2423160"/>
            <a:ext cx="3108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dirty="0">
                <a:solidFill>
                  <a:schemeClr val="tx1"/>
                </a:solidFill>
              </a:rPr>
              <a:t>Curated markers, human &amp; mouse · panglaodb.se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4306824" y="1463040"/>
            <a:ext cx="3566160" cy="219456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4535424" y="1691640"/>
            <a:ext cx="594360" cy="594360"/>
          </a:xfrm>
          <a:prstGeom prst="ellipse">
            <a:avLst/>
          </a:prstGeom>
          <a:solidFill>
            <a:srgbClr val="264653"/>
          </a:solidFill>
          <a:ln w="12700">
            <a:solidFill>
              <a:srgbClr val="264653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84014" y="1840230"/>
            <a:ext cx="297180" cy="29718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5266944" y="1691640"/>
            <a:ext cx="2377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CZ CELLxGENE</a:t>
            </a:r>
            <a:endParaRPr lang="en-US" sz="1700" dirty="0"/>
          </a:p>
        </p:txBody>
      </p:sp>
      <p:sp>
        <p:nvSpPr>
          <p:cNvPr id="12" name="Text 8"/>
          <p:cNvSpPr txBox="1"/>
          <p:nvPr/>
        </p:nvSpPr>
        <p:spPr>
          <a:xfrm>
            <a:off x="4535424" y="2423160"/>
            <a:ext cx="3108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dirty="0">
                <a:solidFill>
                  <a:schemeClr val="tx1"/>
                </a:solidFill>
              </a:rPr>
              <a:t>&gt; 100 M standardized cells; Explorer, Gene Expression, Census API</a:t>
            </a:r>
            <a:endParaRPr lang="en-US" sz="1600" dirty="0"/>
          </a:p>
        </p:txBody>
      </p:sp>
      <p:sp>
        <p:nvSpPr>
          <p:cNvPr id="13" name="Shape 9"/>
          <p:cNvSpPr/>
          <p:nvPr/>
        </p:nvSpPr>
        <p:spPr>
          <a:xfrm>
            <a:off x="8065008" y="1463040"/>
            <a:ext cx="3566160" cy="219456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8293608" y="1691640"/>
            <a:ext cx="594360" cy="594360"/>
          </a:xfrm>
          <a:prstGeom prst="ellipse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42198" y="1840230"/>
            <a:ext cx="297180" cy="297180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9025128" y="1691640"/>
            <a:ext cx="2377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Single Cell Portal</a:t>
            </a:r>
            <a:endParaRPr lang="en-US" sz="1700" dirty="0"/>
          </a:p>
        </p:txBody>
      </p:sp>
      <p:sp>
        <p:nvSpPr>
          <p:cNvPr id="17" name="Text 12"/>
          <p:cNvSpPr txBox="1"/>
          <p:nvPr/>
        </p:nvSpPr>
        <p:spPr>
          <a:xfrm>
            <a:off x="8293608" y="2423160"/>
            <a:ext cx="3108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dirty="0">
                <a:solidFill>
                  <a:schemeClr val="tx1"/>
                </a:solidFill>
              </a:rPr>
              <a:t>Broad Institute: hundreds of studies, plots and downloads</a:t>
            </a:r>
            <a:endParaRPr lang="en-US" sz="1600" dirty="0"/>
          </a:p>
        </p:txBody>
      </p:sp>
      <p:sp>
        <p:nvSpPr>
          <p:cNvPr id="18" name="Shape 13"/>
          <p:cNvSpPr/>
          <p:nvPr/>
        </p:nvSpPr>
        <p:spPr>
          <a:xfrm>
            <a:off x="548640" y="3840480"/>
            <a:ext cx="3566160" cy="219456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9" name="Shape 14"/>
          <p:cNvSpPr/>
          <p:nvPr/>
        </p:nvSpPr>
        <p:spPr>
          <a:xfrm>
            <a:off x="777240" y="4069080"/>
            <a:ext cx="594360" cy="594360"/>
          </a:xfrm>
          <a:prstGeom prst="ellipse">
            <a:avLst/>
          </a:prstGeom>
          <a:solidFill>
            <a:srgbClr val="6C5B7B"/>
          </a:solidFill>
          <a:ln w="12700">
            <a:solidFill>
              <a:srgbClr val="6C5B7B"/>
            </a:solidFill>
            <a:prstDash val="solid"/>
          </a:ln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5830" y="4217670"/>
            <a:ext cx="297180" cy="297180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1508760" y="4069080"/>
            <a:ext cx="2377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Cell Annotation Platform</a:t>
            </a:r>
            <a:endParaRPr lang="en-US" sz="1700" dirty="0"/>
          </a:p>
        </p:txBody>
      </p:sp>
      <p:sp>
        <p:nvSpPr>
          <p:cNvPr id="22" name="Text 16"/>
          <p:cNvSpPr txBox="1"/>
          <p:nvPr/>
        </p:nvSpPr>
        <p:spPr>
          <a:xfrm>
            <a:off x="777240" y="4800600"/>
            <a:ext cx="3108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dirty="0">
                <a:solidFill>
                  <a:schemeClr val="tx1"/>
                </a:solidFill>
              </a:rPr>
              <a:t>CAP · celltype.info: record labels with evidence and share them</a:t>
            </a:r>
            <a:endParaRPr lang="en-US" sz="1600" dirty="0"/>
          </a:p>
        </p:txBody>
      </p:sp>
      <p:sp>
        <p:nvSpPr>
          <p:cNvPr id="23" name="Shape 17"/>
          <p:cNvSpPr/>
          <p:nvPr/>
        </p:nvSpPr>
        <p:spPr>
          <a:xfrm>
            <a:off x="4306824" y="3840480"/>
            <a:ext cx="3566160" cy="219456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4" name="Shape 18"/>
          <p:cNvSpPr/>
          <p:nvPr/>
        </p:nvSpPr>
        <p:spPr>
          <a:xfrm>
            <a:off x="4535424" y="4069080"/>
            <a:ext cx="594360" cy="594360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pic>
        <p:nvPicPr>
          <p:cNvPr id="2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84014" y="4217670"/>
            <a:ext cx="297180" cy="297180"/>
          </a:xfrm>
          <a:prstGeom prst="rect">
            <a:avLst/>
          </a:prstGeom>
        </p:spPr>
      </p:pic>
      <p:sp>
        <p:nvSpPr>
          <p:cNvPr id="26" name="Text 19"/>
          <p:cNvSpPr txBox="1"/>
          <p:nvPr/>
        </p:nvSpPr>
        <p:spPr>
          <a:xfrm>
            <a:off x="5266944" y="4069080"/>
            <a:ext cx="2377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CellTypist</a:t>
            </a:r>
            <a:endParaRPr lang="en-US" sz="1700" dirty="0"/>
          </a:p>
        </p:txBody>
      </p:sp>
      <p:sp>
        <p:nvSpPr>
          <p:cNvPr id="27" name="Text 20"/>
          <p:cNvSpPr txBox="1"/>
          <p:nvPr/>
        </p:nvSpPr>
        <p:spPr>
          <a:xfrm>
            <a:off x="4535424" y="4800600"/>
            <a:ext cx="3108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dirty="0">
                <a:solidFill>
                  <a:schemeClr val="tx1"/>
                </a:solidFill>
              </a:rPr>
              <a:t>Pre-trained classifiers: immune, lung, gut, brain…</a:t>
            </a:r>
            <a:endParaRPr lang="en-US" sz="1600" dirty="0"/>
          </a:p>
        </p:txBody>
      </p:sp>
      <p:sp>
        <p:nvSpPr>
          <p:cNvPr id="28" name="Shape 21"/>
          <p:cNvSpPr/>
          <p:nvPr/>
        </p:nvSpPr>
        <p:spPr>
          <a:xfrm>
            <a:off x="8065008" y="3840480"/>
            <a:ext cx="3566160" cy="219456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9" name="Shape 22"/>
          <p:cNvSpPr/>
          <p:nvPr/>
        </p:nvSpPr>
        <p:spPr>
          <a:xfrm>
            <a:off x="8293608" y="4069080"/>
            <a:ext cx="594360" cy="594360"/>
          </a:xfrm>
          <a:prstGeom prst="ellipse">
            <a:avLst/>
          </a:prstGeom>
          <a:solidFill>
            <a:srgbClr val="8AB17D"/>
          </a:solidFill>
          <a:ln w="12700">
            <a:solidFill>
              <a:srgbClr val="8AB17D"/>
            </a:solidFill>
            <a:prstDash val="solid"/>
          </a:ln>
        </p:spPr>
      </p:sp>
      <p:pic>
        <p:nvPicPr>
          <p:cNvPr id="30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42198" y="4217670"/>
            <a:ext cx="297180" cy="297180"/>
          </a:xfrm>
          <a:prstGeom prst="rect">
            <a:avLst/>
          </a:prstGeom>
        </p:spPr>
      </p:pic>
      <p:sp>
        <p:nvSpPr>
          <p:cNvPr id="31" name="Text 23"/>
          <p:cNvSpPr txBox="1"/>
          <p:nvPr/>
        </p:nvSpPr>
        <p:spPr>
          <a:xfrm>
            <a:off x="9025128" y="4069080"/>
            <a:ext cx="2377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Cell Ontology</a:t>
            </a:r>
            <a:endParaRPr lang="en-US" sz="1700" dirty="0"/>
          </a:p>
        </p:txBody>
      </p:sp>
      <p:sp>
        <p:nvSpPr>
          <p:cNvPr id="32" name="Text 24"/>
          <p:cNvSpPr txBox="1"/>
          <p:nvPr/>
        </p:nvSpPr>
        <p:spPr>
          <a:xfrm>
            <a:off x="8293608" y="4800600"/>
            <a:ext cx="3108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dirty="0">
                <a:solidFill>
                  <a:schemeClr val="tx1"/>
                </a:solidFill>
              </a:rPr>
              <a:t>Standard IDs (CL:0000236 = B cell) that make labels reusable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74320"/>
            <a:ext cx="110642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 · Pick the plot for the question</a:t>
            </a:r>
            <a:endParaRPr lang="en-US" sz="320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63040"/>
          <a:ext cx="11091672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5486400"/>
                <a:gridCol w="3227832"/>
              </a:tblGrid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Plot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C4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Question it answers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C4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Scanpy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C49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7262B"/>
                          </a:solidFill>
                        </a:rPr>
                        <a:t>UMAP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7262B"/>
                          </a:solidFill>
                        </a:rPr>
                        <a:t>Where are the cell types? Where is gene X expressed?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7262B"/>
                          </a:solidFill>
                        </a:rPr>
                        <a:t>sc.pl.umap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3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7262B"/>
                          </a:solidFill>
                        </a:rPr>
                        <a:t>Violin / stacked violin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7262B"/>
                          </a:solidFill>
                        </a:rPr>
                        <a:t>How is a gene distributed in each group?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7262B"/>
                          </a:solidFill>
                        </a:rPr>
                        <a:t>sc.pl.violin, sc.pl.stacked_violin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7262B"/>
                          </a:solidFill>
                        </a:rPr>
                        <a:t>Dot plot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7262B"/>
                          </a:solidFill>
                        </a:rPr>
                        <a:t>Many markers × groups: % expressing and mean level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7262B"/>
                          </a:solidFill>
                        </a:rPr>
                        <a:t>sc.pl.dotplot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3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7262B"/>
                          </a:solidFill>
                        </a:rPr>
                        <a:t>Matrix plot / heatmap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7262B"/>
                          </a:solidFill>
                        </a:rPr>
                        <a:t>Compact means, or cell-level heterogeneity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7262B"/>
                          </a:solidFill>
                        </a:rPr>
                        <a:t>sc.pl.matrixplot, sc.pl.heatmap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7262B"/>
                          </a:solidFill>
                        </a:rPr>
                        <a:t>Proportion bars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7262B"/>
                          </a:solidFill>
                        </a:rPr>
                        <a:t>How does composition change between samples?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7262B"/>
                          </a:solidFill>
                        </a:rPr>
                        <a:t>pandas + matplotlib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3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7262B"/>
                          </a:solidFill>
                        </a:rPr>
                        <a:t>Volcano plot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7262B"/>
                          </a:solidFill>
                        </a:rPr>
                        <a:t>Which genes change, how much, how significantly?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7262B"/>
                          </a:solidFill>
                        </a:rPr>
                        <a:t>matplotlib / decoupler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548640" y="5669280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B70"/>
                </a:solidFill>
              </a:rPr>
              <a:t>Tips: colorblind-safe palettes (viridis), labels on the data, vmax="p99" to tame outliers, save as PDF/SVG.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74320"/>
            <a:ext cx="110642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04–05 · Differential expression: which test?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463040"/>
            <a:ext cx="5394960" cy="3291840"/>
          </a:xfrm>
          <a:prstGeom prst="roundRect">
            <a:avLst>
              <a:gd name="adj" fmla="val 333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7240" y="1691640"/>
            <a:ext cx="594360" cy="594360"/>
          </a:xfrm>
          <a:prstGeom prst="ellipse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25830" y="1840230"/>
            <a:ext cx="297180" cy="29718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508760" y="1691640"/>
            <a:ext cx="4206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Markers between clusters</a:t>
            </a:r>
            <a:endParaRPr lang="en-US" sz="1700" dirty="0"/>
          </a:p>
        </p:txBody>
      </p:sp>
      <p:sp>
        <p:nvSpPr>
          <p:cNvPr id="7" name="Text 4"/>
          <p:cNvSpPr txBox="1"/>
          <p:nvPr/>
        </p:nvSpPr>
        <p:spPr>
          <a:xfrm>
            <a:off x="777240" y="2423160"/>
            <a:ext cx="493776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Wilcoxon per cell: rank_genes_groups</a:t>
            </a:r>
            <a:endParaRPr lang="en-US" sz="16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Good for describing and annotating clusters</a:t>
            </a:r>
            <a:endParaRPr lang="en-US" sz="16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p-values are optimistic: genes were used to build the clusters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6245352" y="1463040"/>
            <a:ext cx="5394960" cy="3291840"/>
          </a:xfrm>
          <a:prstGeom prst="roundRect">
            <a:avLst>
              <a:gd name="adj" fmla="val 333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6473952" y="1691640"/>
            <a:ext cx="594360" cy="594360"/>
          </a:xfrm>
          <a:prstGeom prst="ellipse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22542" y="1840230"/>
            <a:ext cx="297180" cy="29718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7205472" y="1691640"/>
            <a:ext cx="4206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Conditions (disease vs. control)</a:t>
            </a:r>
            <a:endParaRPr lang="en-US" sz="1700" dirty="0"/>
          </a:p>
        </p:txBody>
      </p:sp>
      <p:sp>
        <p:nvSpPr>
          <p:cNvPr id="12" name="Text 8"/>
          <p:cNvSpPr txBox="1"/>
          <p:nvPr/>
        </p:nvSpPr>
        <p:spPr>
          <a:xfrm>
            <a:off x="6473952" y="2423160"/>
            <a:ext cx="493776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Pseudobulk: sum counts per sample × cell type</a:t>
            </a:r>
            <a:endParaRPr lang="en-US" sz="16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DESeq2 / edgeR with the donor as the replicate</a:t>
            </a:r>
            <a:endParaRPr lang="en-US" sz="16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Needs ≥ 3 biological replicates per condition</a:t>
            </a:r>
            <a:endParaRPr lang="en-US" sz="1600" dirty="0"/>
          </a:p>
        </p:txBody>
      </p:sp>
      <p:sp>
        <p:nvSpPr>
          <p:cNvPr id="13" name="Shape 9"/>
          <p:cNvSpPr/>
          <p:nvPr/>
        </p:nvSpPr>
        <p:spPr>
          <a:xfrm>
            <a:off x="548640" y="4983480"/>
            <a:ext cx="11091672" cy="1051560"/>
          </a:xfrm>
          <a:prstGeom prst="roundRect">
            <a:avLst>
              <a:gd name="adj" fmla="val 8696"/>
            </a:avLst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14" name="Text 10"/>
          <p:cNvSpPr txBox="1"/>
          <p:nvPr/>
        </p:nvSpPr>
        <p:spPr>
          <a:xfrm>
            <a:off x="822960" y="4983480"/>
            <a:ext cx="106070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Cells from one person are not independent replicates. Treating them as such produces thousands of false positives (Squair et al. 2021).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74320"/>
            <a:ext cx="110642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 · What do the genes mean?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463040"/>
            <a:ext cx="3566160" cy="3108960"/>
          </a:xfrm>
          <a:prstGeom prst="roundRect">
            <a:avLst>
              <a:gd name="adj" fmla="val 352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7240" y="1691640"/>
            <a:ext cx="594360" cy="594360"/>
          </a:xfrm>
          <a:prstGeom prst="ellipse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25830" y="1840230"/>
            <a:ext cx="297180" cy="29718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508760" y="1691640"/>
            <a:ext cx="2377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Over-representation (ORA)</a:t>
            </a:r>
            <a:endParaRPr lang="en-US" sz="1700" dirty="0"/>
          </a:p>
        </p:txBody>
      </p:sp>
      <p:sp>
        <p:nvSpPr>
          <p:cNvPr id="7" name="Text 4"/>
          <p:cNvSpPr txBox="1"/>
          <p:nvPr/>
        </p:nvSpPr>
        <p:spPr>
          <a:xfrm>
            <a:off x="777240" y="2423160"/>
            <a:ext cx="31089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Top DEGs vs. gene sets (Fisher test)</a:t>
            </a:r>
            <a:endParaRPr lang="en-US" sz="16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MSigDB Hallmark, GO, Reactome</a:t>
            </a:r>
            <a:endParaRPr lang="en-US" sz="16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Simple; depends on a cut-off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4306824" y="1463040"/>
            <a:ext cx="3566160" cy="3108960"/>
          </a:xfrm>
          <a:prstGeom prst="roundRect">
            <a:avLst>
              <a:gd name="adj" fmla="val 352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4535424" y="1691640"/>
            <a:ext cx="594360" cy="594360"/>
          </a:xfrm>
          <a:prstGeom prst="ellipse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84014" y="1840230"/>
            <a:ext cx="297180" cy="29718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5266944" y="1691640"/>
            <a:ext cx="2377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Pathway activity</a:t>
            </a:r>
            <a:endParaRPr lang="en-US" sz="1700" dirty="0"/>
          </a:p>
        </p:txBody>
      </p:sp>
      <p:sp>
        <p:nvSpPr>
          <p:cNvPr id="12" name="Text 8"/>
          <p:cNvSpPr txBox="1"/>
          <p:nvPr/>
        </p:nvSpPr>
        <p:spPr>
          <a:xfrm>
            <a:off x="4535424" y="2423160"/>
            <a:ext cx="31089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PROGENy footprints: weighted target genes</a:t>
            </a:r>
            <a:endParaRPr lang="en-US" sz="16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Score per cell or per contrast (ULM)</a:t>
            </a:r>
            <a:endParaRPr lang="en-US" sz="16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Uses direction and strength</a:t>
            </a:r>
            <a:endParaRPr lang="en-US" sz="1600" dirty="0"/>
          </a:p>
        </p:txBody>
      </p:sp>
      <p:sp>
        <p:nvSpPr>
          <p:cNvPr id="13" name="Shape 9"/>
          <p:cNvSpPr/>
          <p:nvPr/>
        </p:nvSpPr>
        <p:spPr>
          <a:xfrm>
            <a:off x="8065008" y="1463040"/>
            <a:ext cx="3566160" cy="3108960"/>
          </a:xfrm>
          <a:prstGeom prst="roundRect">
            <a:avLst>
              <a:gd name="adj" fmla="val 352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8293608" y="1691640"/>
            <a:ext cx="594360" cy="594360"/>
          </a:xfrm>
          <a:prstGeom prst="ellipse">
            <a:avLst/>
          </a:prstGeom>
          <a:solidFill>
            <a:srgbClr val="6C5B7B"/>
          </a:solidFill>
          <a:ln w="12700">
            <a:solidFill>
              <a:srgbClr val="6C5B7B"/>
            </a:solidFill>
            <a:prstDash val="solid"/>
          </a:ln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42198" y="1840230"/>
            <a:ext cx="297180" cy="297180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9025128" y="1691640"/>
            <a:ext cx="2377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Gene signatures</a:t>
            </a:r>
            <a:endParaRPr lang="en-US" sz="1700" dirty="0"/>
          </a:p>
        </p:txBody>
      </p:sp>
      <p:sp>
        <p:nvSpPr>
          <p:cNvPr id="17" name="Text 12"/>
          <p:cNvSpPr txBox="1"/>
          <p:nvPr/>
        </p:nvSpPr>
        <p:spPr>
          <a:xfrm>
            <a:off x="8293608" y="2423160"/>
            <a:ext cx="31089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Any list from a paper</a:t>
            </a:r>
            <a:endParaRPr lang="en-US" sz="16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sc.tl.score_genes per cell</a:t>
            </a:r>
            <a:endParaRPr lang="en-US" sz="16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e.g. interferon response</a:t>
            </a:r>
            <a:endParaRPr lang="en-US" sz="1600" dirty="0"/>
          </a:p>
        </p:txBody>
      </p:sp>
      <p:sp>
        <p:nvSpPr>
          <p:cNvPr id="18" name="Text 13"/>
          <p:cNvSpPr txBox="1"/>
          <p:nvPr/>
        </p:nvSpPr>
        <p:spPr>
          <a:xfrm>
            <a:off x="548640" y="4892040"/>
            <a:ext cx="110642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Beyond today: cell–cell communication (LIANA+, CellChat), trajectories (PAGA, scVelo, CellRank), TF activity (CollecTRI), spatial (Squidpy).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74320"/>
            <a:ext cx="110642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 · Integration: align samples, keep biology</a:t>
            </a:r>
            <a:endParaRPr lang="en-US" sz="3200" dirty="0"/>
          </a:p>
        </p:txBody>
      </p:sp>
      <p:graphicFrame>
        <p:nvGraphicFramePr>
          <p:cNvPr id="2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63040"/>
          <a:ext cx="11091672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1920240"/>
                <a:gridCol w="4965192"/>
                <a:gridCol w="2011680"/>
              </a:tblGrid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Method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C4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Works on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C4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Strengths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C4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Languages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C49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7262B"/>
                          </a:solidFill>
                        </a:rPr>
                        <a:t>Harmony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7262B"/>
                          </a:solidFill>
                        </a:rPr>
                        <a:t>PCA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7262B"/>
                          </a:solidFill>
                        </a:rPr>
                        <a:t>Fast, simple, robust default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7262B"/>
                          </a:solidFill>
                        </a:rPr>
                        <a:t>R · Python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3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7262B"/>
                          </a:solidFill>
                        </a:rPr>
                        <a:t>BBKNN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7262B"/>
                          </a:solidFill>
                        </a:rPr>
                        <a:t>kNN graph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7262B"/>
                          </a:solidFill>
                        </a:rPr>
                        <a:t>Very fast; graph only (clustering, UMAP)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7262B"/>
                          </a:solidFill>
                        </a:rPr>
                        <a:t>Python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7262B"/>
                          </a:solidFill>
                        </a:rPr>
                        <a:t>scVI / scANVI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7262B"/>
                          </a:solidFill>
                        </a:rPr>
                        <a:t>Raw counts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7262B"/>
                          </a:solidFill>
                        </a:rPr>
                        <a:t>Complex batches, atlases; label transfer; GPU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7262B"/>
                          </a:solidFill>
                        </a:rPr>
                        <a:t>Python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3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7262B"/>
                          </a:solidFill>
                        </a:rPr>
                        <a:t>Seurat CCA / RPCA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7262B"/>
                          </a:solidFill>
                        </a:rPr>
                        <a:t>Anchors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7262B"/>
                          </a:solidFill>
                        </a:rPr>
                        <a:t>Well documented, widely used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7262B"/>
                          </a:solidFill>
                        </a:rPr>
                        <a:t>R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Shape 1"/>
          <p:cNvSpPr/>
          <p:nvPr/>
        </p:nvSpPr>
        <p:spPr>
          <a:xfrm>
            <a:off x="548640" y="4343400"/>
            <a:ext cx="5394960" cy="1737360"/>
          </a:xfrm>
          <a:prstGeom prst="roundRect">
            <a:avLst>
              <a:gd name="adj" fmla="val 631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777240" y="4572000"/>
            <a:ext cx="594360" cy="594360"/>
          </a:xfrm>
          <a:prstGeom prst="ellipse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25830" y="4720590"/>
            <a:ext cx="297180" cy="297180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1508760" y="4572000"/>
            <a:ext cx="4206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Batch mixing ↑</a:t>
            </a:r>
            <a:endParaRPr lang="en-US" sz="1700" dirty="0"/>
          </a:p>
        </p:txBody>
      </p:sp>
      <p:sp>
        <p:nvSpPr>
          <p:cNvPr id="8" name="Text 4"/>
          <p:cNvSpPr txBox="1"/>
          <p:nvPr/>
        </p:nvSpPr>
        <p:spPr>
          <a:xfrm>
            <a:off x="777240" y="5303520"/>
            <a:ext cx="4937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dirty="0">
                <a:solidFill>
                  <a:schemeClr val="tx1"/>
                </a:solidFill>
              </a:rPr>
              <a:t>Cells of the same type from different samples are neighbors</a:t>
            </a:r>
            <a:endParaRPr lang="en-US" sz="1600" dirty="0"/>
          </a:p>
        </p:txBody>
      </p:sp>
      <p:sp>
        <p:nvSpPr>
          <p:cNvPr id="9" name="Shape 5"/>
          <p:cNvSpPr/>
          <p:nvPr/>
        </p:nvSpPr>
        <p:spPr>
          <a:xfrm>
            <a:off x="6245352" y="4343400"/>
            <a:ext cx="5394960" cy="1737360"/>
          </a:xfrm>
          <a:prstGeom prst="roundRect">
            <a:avLst>
              <a:gd name="adj" fmla="val 631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6473952" y="4572000"/>
            <a:ext cx="594360" cy="594360"/>
          </a:xfrm>
          <a:prstGeom prst="ellipse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22542" y="4720590"/>
            <a:ext cx="297180" cy="297180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7205472" y="4572000"/>
            <a:ext cx="4206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Bio conservation ↑</a:t>
            </a:r>
            <a:endParaRPr lang="en-US" sz="1700" dirty="0"/>
          </a:p>
        </p:txBody>
      </p:sp>
      <p:sp>
        <p:nvSpPr>
          <p:cNvPr id="13" name="Text 8"/>
          <p:cNvSpPr txBox="1"/>
          <p:nvPr/>
        </p:nvSpPr>
        <p:spPr>
          <a:xfrm>
            <a:off x="6473952" y="5303520"/>
            <a:ext cx="4937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dirty="0">
                <a:solidFill>
                  <a:schemeClr val="tx1"/>
                </a:solidFill>
              </a:rPr>
              <a:t>Different cell types stay apart (scIB metrics)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74320"/>
            <a:ext cx="110642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 or Python? Both, and you can move between them</a:t>
            </a:r>
            <a:endParaRPr lang="en-US" sz="3200" dirty="0"/>
          </a:p>
        </p:txBody>
      </p:sp>
      <p:graphicFrame>
        <p:nvGraphicFramePr>
          <p:cNvPr id="2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17320"/>
          <a:ext cx="7589520" cy="914400"/>
        </p:xfrm>
        <a:graphic>
          <a:graphicData uri="http://schemas.openxmlformats.org/drawingml/2006/table">
            <a:tbl>
              <a:tblPr/>
              <a:tblGrid>
                <a:gridCol w="1737360"/>
                <a:gridCol w="2926080"/>
                <a:gridCol w="2926080"/>
              </a:tblGrid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Step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C4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Python (scverse)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C4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R (Seurat / Bioconductor)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C49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7262B"/>
                          </a:solidFill>
                        </a:rPr>
                        <a:t>Object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7262B"/>
                          </a:solidFill>
                        </a:rPr>
                        <a:t>AnnData (.h5ad)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7262B"/>
                          </a:solidFill>
                        </a:rPr>
                        <a:t>Seurat (.rds) · SingleCellExperiment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3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7262B"/>
                          </a:solidFill>
                        </a:rPr>
                        <a:t>QC · doublets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7262B"/>
                          </a:solidFill>
                        </a:rPr>
                        <a:t>calculate_qc_metrics · scrublet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7262B"/>
                          </a:solidFill>
                        </a:rPr>
                        <a:t>PercentageFeatureSet · scDblFinder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7262B"/>
                          </a:solidFill>
                        </a:rPr>
                        <a:t>Normalize · HVG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7262B"/>
                          </a:solidFill>
                        </a:rPr>
                        <a:t>normalize_total + log1p · highly_variable_genes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7262B"/>
                          </a:solidFill>
                        </a:rPr>
                        <a:t>NormalizeData / SCTransform · FindVariableFeatures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3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7262B"/>
                          </a:solidFill>
                        </a:rPr>
                        <a:t>Graph · clusters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7262B"/>
                          </a:solidFill>
                        </a:rPr>
                        <a:t>neighbors · leiden · umap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7262B"/>
                          </a:solidFill>
                        </a:rPr>
                        <a:t>FindNeighbors · FindClusters · RunUMAP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7262B"/>
                          </a:solidFill>
                        </a:rPr>
                        <a:t>Markers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7262B"/>
                          </a:solidFill>
                        </a:rPr>
                        <a:t>rank_genes_groups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7262B"/>
                          </a:solidFill>
                        </a:rPr>
                        <a:t>FindAllMarkers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3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7262B"/>
                          </a:solidFill>
                        </a:rPr>
                        <a:t>Annotation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7262B"/>
                          </a:solidFill>
                        </a:rPr>
                        <a:t>CellTypist · ingest · scANVI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7262B"/>
                          </a:solidFill>
                        </a:rPr>
                        <a:t>SingleR · Azimuth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7262B"/>
                          </a:solidFill>
                        </a:rPr>
                        <a:t>Pseudobulk DE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7262B"/>
                          </a:solidFill>
                        </a:rPr>
                        <a:t>decoupler + PyDESeq2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7262B"/>
                          </a:solidFill>
                        </a:rPr>
                        <a:t>muscat · DESeq2 · edgeR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3"/>
                    </a:solidFill>
                  </a:tcPr>
                </a:tc>
              </a:tr>
            </a:tbl>
          </a:graphicData>
        </a:graphic>
      </p:graphicFrame>
      <p:sp>
        <p:nvSpPr>
          <p:cNvPr id="4" name="Shape 1"/>
          <p:cNvSpPr/>
          <p:nvPr/>
        </p:nvSpPr>
        <p:spPr>
          <a:xfrm>
            <a:off x="8412480" y="1417320"/>
            <a:ext cx="3227832" cy="2240280"/>
          </a:xfrm>
          <a:prstGeom prst="roundRect">
            <a:avLst>
              <a:gd name="adj" fmla="val 489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8641080" y="1645920"/>
            <a:ext cx="594360" cy="594360"/>
          </a:xfrm>
          <a:prstGeom prst="ellipse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89670" y="1794510"/>
            <a:ext cx="297180" cy="297180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9372600" y="1645920"/>
            <a:ext cx="203911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Python</a:t>
            </a:r>
            <a:endParaRPr lang="en-US" sz="1700" dirty="0"/>
          </a:p>
        </p:txBody>
      </p:sp>
      <p:sp>
        <p:nvSpPr>
          <p:cNvPr id="8" name="Text 4"/>
          <p:cNvSpPr txBox="1"/>
          <p:nvPr/>
        </p:nvSpPr>
        <p:spPr>
          <a:xfrm>
            <a:off x="8641080" y="2377440"/>
            <a:ext cx="277063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Millions of cells, GPUs, deep learning (scvi-tools), ML pipelines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8412480" y="3840480"/>
            <a:ext cx="3227832" cy="2240280"/>
          </a:xfrm>
          <a:prstGeom prst="roundRect">
            <a:avLst>
              <a:gd name="adj" fmla="val 489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8641080" y="4069080"/>
            <a:ext cx="594360" cy="594360"/>
          </a:xfrm>
          <a:prstGeom prst="ellipse">
            <a:avLst/>
          </a:prstGeom>
          <a:solidFill>
            <a:srgbClr val="264653"/>
          </a:solidFill>
          <a:ln w="12700">
            <a:solidFill>
              <a:srgbClr val="264653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89670" y="4217670"/>
            <a:ext cx="297180" cy="297180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9372600" y="4069080"/>
            <a:ext cx="203911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R</a:t>
            </a:r>
            <a:endParaRPr lang="en-US" sz="1700" dirty="0"/>
          </a:p>
        </p:txBody>
      </p:sp>
      <p:sp>
        <p:nvSpPr>
          <p:cNvPr id="13" name="Text 8"/>
          <p:cNvSpPr txBox="1"/>
          <p:nvPr/>
        </p:nvSpPr>
        <p:spPr>
          <a:xfrm>
            <a:off x="8641080" y="4800600"/>
            <a:ext cx="277063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Bioconductor statistics, many specialized methods, polished vignettes</a:t>
            </a:r>
            <a:endParaRPr lang="en-US" sz="1400" dirty="0"/>
          </a:p>
        </p:txBody>
      </p:sp>
      <p:sp>
        <p:nvSpPr>
          <p:cNvPr id="14" name="Text 9"/>
          <p:cNvSpPr txBox="1"/>
          <p:nvPr/>
        </p:nvSpPr>
        <p:spPr>
          <a:xfrm>
            <a:off x="548640" y="5349240"/>
            <a:ext cx="7589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B70"/>
                </a:solidFill>
              </a:rPr>
              <a:t>Convert: zellkonverter::readH5AD() · anndata2ri · rpy2. Defaults differ, so results are similar, not identical.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74320"/>
            <a:ext cx="110642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Let's start: Google Colab in 4 steps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508760"/>
            <a:ext cx="2532888" cy="1828800"/>
          </a:xfrm>
          <a:prstGeom prst="roundRect">
            <a:avLst>
              <a:gd name="adj" fmla="val 5000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58368" y="1581912"/>
            <a:ext cx="2313432" cy="16824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1 · Open</a:t>
            </a:r>
            <a:endParaRPr lang="en-US" sz="1800" dirty="0"/>
          </a:p>
          <a:p>
            <a:pPr algn="ctr" indent="0" marL="0">
              <a:buNone/>
            </a:pPr>
            <a:r>
              <a:rPr lang="en-US" sz="1500" dirty="0">
                <a:solidFill>
                  <a:schemeClr val="bg1"/>
                </a:solidFill>
              </a:rPr>
              <a:t>github.com/Kur1sutaru/ISMB-LATAM → Open in Colab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 rot="5400000">
            <a:off x="3113532" y="2331720"/>
            <a:ext cx="256032" cy="182880"/>
          </a:xfrm>
          <a:prstGeom prst="triangle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401568" y="1508760"/>
            <a:ext cx="2532888" cy="1828800"/>
          </a:xfrm>
          <a:prstGeom prst="roundRect">
            <a:avLst>
              <a:gd name="adj" fmla="val 5000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3511296" y="1581912"/>
            <a:ext cx="2313432" cy="16824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2 · Copy</a:t>
            </a:r>
            <a:endParaRPr lang="en-US" sz="1800" dirty="0"/>
          </a:p>
          <a:p>
            <a:pPr algn="ctr" indent="0" marL="0">
              <a:buNone/>
            </a:pPr>
            <a:r>
              <a:rPr lang="en-US" sz="1500" dirty="0">
                <a:solidFill>
                  <a:schemeClr val="bg1"/>
                </a:solidFill>
              </a:rPr>
              <a:t>File → Save a copy in Drive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 rot="5400000">
            <a:off x="5966460" y="2331720"/>
            <a:ext cx="256032" cy="182880"/>
          </a:xfrm>
          <a:prstGeom prst="triangle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254496" y="1508760"/>
            <a:ext cx="2532888" cy="1828800"/>
          </a:xfrm>
          <a:prstGeom prst="roundRect">
            <a:avLst>
              <a:gd name="adj" fmla="val 5000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364224" y="1581912"/>
            <a:ext cx="2313432" cy="16824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3 · Setup</a:t>
            </a:r>
            <a:endParaRPr lang="en-US" sz="1800" dirty="0"/>
          </a:p>
          <a:p>
            <a:pPr algn="ctr" indent="0" marL="0">
              <a:buNone/>
            </a:pPr>
            <a:r>
              <a:rPr lang="en-US" sz="1500" dirty="0">
                <a:solidFill>
                  <a:schemeClr val="bg1"/>
                </a:solidFill>
              </a:rPr>
              <a:t>Run the first code cell (~1 min)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 rot="5400000">
            <a:off x="8819388" y="2331720"/>
            <a:ext cx="256032" cy="182880"/>
          </a:xfrm>
          <a:prstGeom prst="triangle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107424" y="1508760"/>
            <a:ext cx="2532888" cy="1828800"/>
          </a:xfrm>
          <a:prstGeom prst="roundRect">
            <a:avLst>
              <a:gd name="adj" fmla="val 5000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9217152" y="1581912"/>
            <a:ext cx="2313432" cy="16824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4 · Run</a:t>
            </a:r>
            <a:endParaRPr lang="en-US" sz="1800" dirty="0"/>
          </a:p>
          <a:p>
            <a:pPr algn="ctr" indent="0" marL="0">
              <a:buNone/>
            </a:pPr>
            <a:r>
              <a:rPr lang="en-US" sz="1500" dirty="0">
                <a:solidFill>
                  <a:schemeClr val="bg1"/>
                </a:solidFill>
              </a:rPr>
              <a:t>Shift + Enter, cell by cell, in order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548640" y="3657600"/>
            <a:ext cx="5394960" cy="2377440"/>
          </a:xfrm>
          <a:prstGeom prst="roundRect">
            <a:avLst>
              <a:gd name="adj" fmla="val 461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77240" y="3886200"/>
            <a:ext cx="594360" cy="594360"/>
          </a:xfrm>
          <a:prstGeom prst="ellipse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pic>
        <p:nvPicPr>
          <p:cNvPr id="1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25830" y="4034790"/>
            <a:ext cx="297180" cy="297180"/>
          </a:xfrm>
          <a:prstGeom prst="rect">
            <a:avLst/>
          </a:prstGeom>
        </p:spPr>
      </p:pic>
      <p:sp>
        <p:nvSpPr>
          <p:cNvPr id="17" name="Text 14"/>
          <p:cNvSpPr txBox="1"/>
          <p:nvPr/>
        </p:nvSpPr>
        <p:spPr>
          <a:xfrm>
            <a:off x="1508760" y="3886200"/>
            <a:ext cx="4206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Good to know</a:t>
            </a:r>
            <a:endParaRPr lang="en-US" sz="1700" dirty="0"/>
          </a:p>
        </p:txBody>
      </p:sp>
      <p:sp>
        <p:nvSpPr>
          <p:cNvPr id="18" name="Text 15"/>
          <p:cNvSpPr txBox="1"/>
          <p:nvPr/>
        </p:nvSpPr>
        <p:spPr>
          <a:xfrm>
            <a:off x="777240" y="4617720"/>
            <a:ext cx="49377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🟢 Core = live · 🔎 Extra = self-study</a:t>
            </a:r>
            <a:endParaRPr lang="en-US" sz="16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Each notebook rebuilds the previous step if needed</a:t>
            </a:r>
            <a:endParaRPr lang="en-US" sz="16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USE_DRIVE = True keeps results in Drive</a:t>
            </a:r>
            <a:endParaRPr lang="en-US" sz="1600" dirty="0"/>
          </a:p>
        </p:txBody>
      </p:sp>
      <p:sp>
        <p:nvSpPr>
          <p:cNvPr id="19" name="Shape 16"/>
          <p:cNvSpPr/>
          <p:nvPr/>
        </p:nvSpPr>
        <p:spPr>
          <a:xfrm>
            <a:off x="6245352" y="3657600"/>
            <a:ext cx="5394960" cy="2377440"/>
          </a:xfrm>
          <a:prstGeom prst="roundRect">
            <a:avLst>
              <a:gd name="adj" fmla="val 461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6473952" y="3886200"/>
            <a:ext cx="594360" cy="594360"/>
          </a:xfrm>
          <a:prstGeom prst="ellipse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pic>
        <p:nvPicPr>
          <p:cNvPr id="2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22542" y="4034790"/>
            <a:ext cx="297180" cy="297180"/>
          </a:xfrm>
          <a:prstGeom prst="rect">
            <a:avLst/>
          </a:prstGeom>
        </p:spPr>
      </p:pic>
      <p:sp>
        <p:nvSpPr>
          <p:cNvPr id="22" name="Text 18"/>
          <p:cNvSpPr txBox="1"/>
          <p:nvPr/>
        </p:nvSpPr>
        <p:spPr>
          <a:xfrm>
            <a:off x="7205472" y="3886200"/>
            <a:ext cx="4206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If something breaks</a:t>
            </a:r>
            <a:endParaRPr lang="en-US" sz="1700" dirty="0"/>
          </a:p>
        </p:txBody>
      </p:sp>
      <p:sp>
        <p:nvSpPr>
          <p:cNvPr id="23" name="Text 19"/>
          <p:cNvSpPr txBox="1"/>
          <p:nvPr/>
        </p:nvSpPr>
        <p:spPr>
          <a:xfrm>
            <a:off x="6473952" y="4617720"/>
            <a:ext cx="49377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Runtime → Restart session and run all</a:t>
            </a:r>
            <a:endParaRPr lang="en-US" sz="16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"Not authored by Google" → Run anyway</a:t>
            </a:r>
            <a:endParaRPr lang="en-US" sz="16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Raise your hand: helpers are around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74320"/>
            <a:ext cx="110642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Keep learning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417320"/>
            <a:ext cx="5449824" cy="1417320"/>
          </a:xfrm>
          <a:prstGeom prst="roundRect">
            <a:avLst>
              <a:gd name="adj" fmla="val 774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7240" y="1645920"/>
            <a:ext cx="594360" cy="594360"/>
          </a:xfrm>
          <a:prstGeom prst="ellipse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25830" y="1794510"/>
            <a:ext cx="297180" cy="29718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508760" y="1645920"/>
            <a:ext cx="426110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Single-cell best practices</a:t>
            </a:r>
            <a:endParaRPr lang="en-US" sz="1700" dirty="0"/>
          </a:p>
        </p:txBody>
      </p:sp>
      <p:sp>
        <p:nvSpPr>
          <p:cNvPr id="7" name="Text 4"/>
          <p:cNvSpPr txBox="1"/>
          <p:nvPr/>
        </p:nvSpPr>
        <p:spPr>
          <a:xfrm>
            <a:off x="1508760" y="2240280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B70"/>
                </a:solidFill>
              </a:rPr>
              <a:t>sc-best-practices.org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6190488" y="1417320"/>
            <a:ext cx="5449824" cy="1417320"/>
          </a:xfrm>
          <a:prstGeom prst="roundRect">
            <a:avLst>
              <a:gd name="adj" fmla="val 774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6419088" y="1645920"/>
            <a:ext cx="594360" cy="594360"/>
          </a:xfrm>
          <a:prstGeom prst="ellipse">
            <a:avLst/>
          </a:prstGeom>
          <a:solidFill>
            <a:srgbClr val="264653"/>
          </a:solidFill>
          <a:ln w="12700">
            <a:solidFill>
              <a:srgbClr val="264653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67678" y="1794510"/>
            <a:ext cx="297180" cy="29718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7150608" y="1645920"/>
            <a:ext cx="426110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Scanpy &amp; scverse tutorials</a:t>
            </a:r>
            <a:endParaRPr lang="en-US" sz="1700" dirty="0"/>
          </a:p>
        </p:txBody>
      </p:sp>
      <p:sp>
        <p:nvSpPr>
          <p:cNvPr id="12" name="Text 8"/>
          <p:cNvSpPr txBox="1"/>
          <p:nvPr/>
        </p:nvSpPr>
        <p:spPr>
          <a:xfrm>
            <a:off x="7150608" y="2240280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B70"/>
                </a:solidFill>
              </a:rPr>
              <a:t>scanpy.readthedocs.io · scverse.org</a:t>
            </a:r>
            <a:endParaRPr lang="en-US" sz="1400" dirty="0"/>
          </a:p>
        </p:txBody>
      </p:sp>
      <p:sp>
        <p:nvSpPr>
          <p:cNvPr id="13" name="Shape 9"/>
          <p:cNvSpPr/>
          <p:nvPr/>
        </p:nvSpPr>
        <p:spPr>
          <a:xfrm>
            <a:off x="548640" y="2990088"/>
            <a:ext cx="5449824" cy="1417320"/>
          </a:xfrm>
          <a:prstGeom prst="roundRect">
            <a:avLst>
              <a:gd name="adj" fmla="val 774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777240" y="3218688"/>
            <a:ext cx="594360" cy="594360"/>
          </a:xfrm>
          <a:prstGeom prst="ellipse">
            <a:avLst/>
          </a:prstGeom>
          <a:solidFill>
            <a:srgbClr val="6C5B7B"/>
          </a:solidFill>
          <a:ln w="12700">
            <a:solidFill>
              <a:srgbClr val="6C5B7B"/>
            </a:solidFill>
            <a:prstDash val="solid"/>
          </a:ln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5830" y="3367278"/>
            <a:ext cx="297180" cy="297180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1508760" y="3218688"/>
            <a:ext cx="426110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OSCA (Bioconductor) · Seurat</a:t>
            </a:r>
            <a:endParaRPr lang="en-US" sz="1700" dirty="0"/>
          </a:p>
        </p:txBody>
      </p:sp>
      <p:sp>
        <p:nvSpPr>
          <p:cNvPr id="17" name="Text 12"/>
          <p:cNvSpPr txBox="1"/>
          <p:nvPr/>
        </p:nvSpPr>
        <p:spPr>
          <a:xfrm>
            <a:off x="1508760" y="3813048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B70"/>
                </a:solidFill>
              </a:rPr>
              <a:t>bioconductor.org/books/release/OSCA · satijalab.org/seurat</a:t>
            </a:r>
            <a:endParaRPr lang="en-US" sz="1400" dirty="0"/>
          </a:p>
        </p:txBody>
      </p:sp>
      <p:sp>
        <p:nvSpPr>
          <p:cNvPr id="18" name="Shape 13"/>
          <p:cNvSpPr/>
          <p:nvPr/>
        </p:nvSpPr>
        <p:spPr>
          <a:xfrm>
            <a:off x="6190488" y="2990088"/>
            <a:ext cx="5449824" cy="1417320"/>
          </a:xfrm>
          <a:prstGeom prst="roundRect">
            <a:avLst>
              <a:gd name="adj" fmla="val 774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9" name="Shape 14"/>
          <p:cNvSpPr/>
          <p:nvPr/>
        </p:nvSpPr>
        <p:spPr>
          <a:xfrm>
            <a:off x="6419088" y="3218688"/>
            <a:ext cx="594360" cy="594360"/>
          </a:xfrm>
          <a:prstGeom prst="ellipse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67678" y="3367278"/>
            <a:ext cx="297180" cy="297180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7150608" y="3218688"/>
            <a:ext cx="426110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Galaxy Training Network</a:t>
            </a:r>
            <a:endParaRPr lang="en-US" sz="1700" dirty="0"/>
          </a:p>
        </p:txBody>
      </p:sp>
      <p:sp>
        <p:nvSpPr>
          <p:cNvPr id="22" name="Text 16"/>
          <p:cNvSpPr txBox="1"/>
          <p:nvPr/>
        </p:nvSpPr>
        <p:spPr>
          <a:xfrm>
            <a:off x="7150608" y="3813048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B70"/>
                </a:solidFill>
              </a:rPr>
              <a:t>single-cell track, no code needed</a:t>
            </a:r>
            <a:endParaRPr lang="en-US" sz="1400" dirty="0"/>
          </a:p>
        </p:txBody>
      </p:sp>
      <p:sp>
        <p:nvSpPr>
          <p:cNvPr id="23" name="Shape 17"/>
          <p:cNvSpPr/>
          <p:nvPr/>
        </p:nvSpPr>
        <p:spPr>
          <a:xfrm>
            <a:off x="548640" y="4562856"/>
            <a:ext cx="5449824" cy="1417320"/>
          </a:xfrm>
          <a:prstGeom prst="roundRect">
            <a:avLst>
              <a:gd name="adj" fmla="val 774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4" name="Shape 18"/>
          <p:cNvSpPr/>
          <p:nvPr/>
        </p:nvSpPr>
        <p:spPr>
          <a:xfrm>
            <a:off x="777240" y="4791456"/>
            <a:ext cx="594360" cy="594360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pic>
        <p:nvPicPr>
          <p:cNvPr id="2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25830" y="4940046"/>
            <a:ext cx="297180" cy="297180"/>
          </a:xfrm>
          <a:prstGeom prst="rect">
            <a:avLst/>
          </a:prstGeom>
        </p:spPr>
      </p:pic>
      <p:sp>
        <p:nvSpPr>
          <p:cNvPr id="26" name="Text 19"/>
          <p:cNvSpPr txBox="1"/>
          <p:nvPr/>
        </p:nvSpPr>
        <p:spPr>
          <a:xfrm>
            <a:off x="1508760" y="4791456"/>
            <a:ext cx="426110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Community</a:t>
            </a:r>
            <a:endParaRPr lang="en-US" sz="1700" dirty="0"/>
          </a:p>
        </p:txBody>
      </p:sp>
      <p:sp>
        <p:nvSpPr>
          <p:cNvPr id="27" name="Text 20"/>
          <p:cNvSpPr txBox="1"/>
          <p:nvPr/>
        </p:nvSpPr>
        <p:spPr>
          <a:xfrm>
            <a:off x="1508760" y="5385816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B70"/>
                </a:solidFill>
              </a:rPr>
              <a:t>ISCB-LATAM, ISCB Regional Student Groups (RSG-Brasil, RSG-Peru…)</a:t>
            </a:r>
            <a:endParaRPr lang="en-US" sz="1400" dirty="0"/>
          </a:p>
        </p:txBody>
      </p:sp>
      <p:sp>
        <p:nvSpPr>
          <p:cNvPr id="28" name="Shape 21"/>
          <p:cNvSpPr/>
          <p:nvPr/>
        </p:nvSpPr>
        <p:spPr>
          <a:xfrm>
            <a:off x="6190488" y="4562856"/>
            <a:ext cx="5449824" cy="1417320"/>
          </a:xfrm>
          <a:prstGeom prst="roundRect">
            <a:avLst>
              <a:gd name="adj" fmla="val 774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9" name="Shape 22"/>
          <p:cNvSpPr/>
          <p:nvPr/>
        </p:nvSpPr>
        <p:spPr>
          <a:xfrm>
            <a:off x="6419088" y="4791456"/>
            <a:ext cx="594360" cy="594360"/>
          </a:xfrm>
          <a:prstGeom prst="ellipse">
            <a:avLst/>
          </a:prstGeom>
          <a:solidFill>
            <a:srgbClr val="0B3C49"/>
          </a:solidFill>
          <a:ln w="12700">
            <a:solidFill>
              <a:srgbClr val="0B3C49"/>
            </a:solidFill>
            <a:prstDash val="solid"/>
          </a:ln>
        </p:spPr>
      </p:sp>
      <p:pic>
        <p:nvPicPr>
          <p:cNvPr id="30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67678" y="4940046"/>
            <a:ext cx="297180" cy="297180"/>
          </a:xfrm>
          <a:prstGeom prst="rect">
            <a:avLst/>
          </a:prstGeom>
        </p:spPr>
      </p:pic>
      <p:sp>
        <p:nvSpPr>
          <p:cNvPr id="31" name="Text 23"/>
          <p:cNvSpPr txBox="1"/>
          <p:nvPr/>
        </p:nvSpPr>
        <p:spPr>
          <a:xfrm>
            <a:off x="7150608" y="4791456"/>
            <a:ext cx="426110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These materials</a:t>
            </a:r>
            <a:endParaRPr lang="en-US" sz="1700" dirty="0"/>
          </a:p>
        </p:txBody>
      </p:sp>
      <p:sp>
        <p:nvSpPr>
          <p:cNvPr id="32" name="Text 24"/>
          <p:cNvSpPr txBox="1"/>
          <p:nvPr/>
        </p:nvSpPr>
        <p:spPr>
          <a:xfrm>
            <a:off x="7150608" y="5385816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B70"/>
                </a:solidFill>
              </a:rPr>
              <a:t>github.com/Kur1sutaru/ISMB-LATAM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1554480"/>
            <a:ext cx="10698480" cy="173736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44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you! ¡Gracias! Obrigada!</a:t>
            </a:r>
            <a:endParaRPr lang="en-US" sz="4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474720"/>
            <a:ext cx="1069848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CFE8E4"/>
                </a:solidFill>
              </a:rPr>
              <a:t>Questions, feedback, bugs: open an issue on GitHub</a:t>
            </a:r>
            <a:endParaRPr lang="en-US" sz="2000" dirty="0"/>
          </a:p>
          <a:p>
            <a:pPr indent="0" marL="0">
              <a:buNone/>
            </a:pPr>
            <a:r>
              <a:rPr lang="en-US" sz="2000" b="1" dirty="0">
                <a:solidFill>
                  <a:srgbClr val="F4A261"/>
                </a:solidFill>
              </a:rPr>
              <a:t>github.com/Kur1sutaru/ISMB-LATAM</a:t>
            </a:r>
            <a:endParaRPr lang="en-US" sz="2000" dirty="0"/>
          </a:p>
          <a:p>
            <a:pPr indent="0" marL="0">
              <a:buNone/>
            </a:pPr>
            <a:r>
              <a:rPr lang="en-US" sz="1000" dirty="0">
                <a:solidFill>
                  <a:srgbClr val="CFE8E4"/>
                </a:solidFill>
              </a:rPr>
              <a:t> 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CFE8E4"/>
                </a:solidFill>
              </a:rPr>
              <a:t>Dr. Cristal Villalba Silva · ORCID 0000-0003-0283-7982</a:t>
            </a:r>
            <a:endParaRPr lang="en-US" sz="2000" dirty="0"/>
          </a:p>
          <a:p>
            <a:pPr indent="0" marL="0">
              <a:buNone/>
            </a:pPr>
            <a:r>
              <a:rPr lang="en-US" sz="1400" dirty="0">
                <a:solidFill>
                  <a:srgbClr val="CFE8E4"/>
                </a:solidFill>
              </a:rPr>
              <a:t>Code: MIT · Slides and text: CC BY 4.0</a:t>
            </a:r>
            <a:endParaRPr lang="en-US" sz="20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>
            <a:alphaModFix amt="80000"/>
          </a:blip>
          <a:stretch>
            <a:fillRect/>
          </a:stretch>
        </p:blipFill>
        <p:spPr>
          <a:xfrm>
            <a:off x="10241280" y="548640"/>
            <a:ext cx="1280160" cy="128016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Cells to Clusters">
  <a:themeElements>
    <a:clrScheme name="Cells to Clusters">
      <a:dk1>
        <a:srgbClr val="17262B"/>
      </a:dk1>
      <a:lt1>
        <a:srgbClr val="FFFFFF"/>
      </a:lt1>
      <a:dk2>
        <a:srgbClr val="0B3C49"/>
      </a:dk2>
      <a:lt2>
        <a:srgbClr val="EAF4F3"/>
      </a:lt2>
      <a:accent1>
        <a:srgbClr val="2A9D8F"/>
      </a:accent1>
      <a:accent2>
        <a:srgbClr val="E76F51"/>
      </a:accent2>
      <a:accent3>
        <a:srgbClr val="F4A261"/>
      </a:accent3>
      <a:accent4>
        <a:srgbClr val="264653"/>
      </a:accent4>
      <a:accent5>
        <a:srgbClr val="8AB17D"/>
      </a:accent5>
      <a:accent6>
        <a:srgbClr val="6C5B7B"/>
      </a:accent6>
      <a:hlink>
        <a:srgbClr val="1D7874"/>
      </a:hlink>
      <a:folHlink>
        <a:srgbClr val="6C5B7B"/>
      </a:folHlink>
    </a:clrScheme>
    <a:fontScheme name="Cells to Clusters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23</Slides>
  <Notes>23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From Cells to Clusters</dc:title>
  <dc:subject>ISCB-LATAM SolBio SPBBC 2026 tutorial</dc:subject>
  <dc:creator>Gerda Cristal Villalba Silva</dc:creator>
  <cp:lastModifiedBy>Gerda Cristal Villalba Silva</cp:lastModifiedBy>
  <cp:revision>1</cp:revision>
  <dcterms:created xsi:type="dcterms:W3CDTF">2026-10-07T14:40:18Z</dcterms:created>
  <dcterms:modified xsi:type="dcterms:W3CDTF">2026-10-07T14:40:18Z</dcterms:modified>
</cp:coreProperties>
</file>