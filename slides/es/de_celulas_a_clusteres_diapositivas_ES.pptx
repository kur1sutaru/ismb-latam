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ienvenida" id="{289cd707-665f-1195-e62f-23fca29ecff1}">
          <p14:sldIdLst>
            <p14:sldId id="256"/>
            <p14:sldId id="257"/>
            <p14:sldId id="258"/>
          </p14:sldIdLst>
        </p14:section>
        <p14:section name="Tecnología single-cell" id="{20f9fc60-1068-51c9-b9ff-b647cd490443}">
          <p14:sldIdLst>
            <p14:sldId id="259"/>
            <p14:sldId id="260"/>
            <p14:sldId id="261"/>
            <p14:sldId id="262"/>
            <p14:sldId id="263"/>
          </p14:sldIdLst>
        </p14:section>
        <p14:section name="El flujo de análisis" id="{137fbc1e-e67f-ddaf-4913-87f6f83eba60}">
          <p14:sldIdLst>
            <p14:sldId id="264"/>
            <p14:sldId id="265"/>
            <p14:sldId id="266"/>
            <p14:sldId id="267"/>
            <p14:sldId id="268"/>
          </p14:sldIdLst>
        </p14:section>
        <p14:section name="Anotación de tipos celulares" id="{1dea8625-b838-aa3c-84b3-d4821568e4e9}">
          <p14:sldIdLst>
            <p14:sldId id="269"/>
            <p14:sldId id="270"/>
          </p14:sldIdLst>
        </p14:section>
        <p14:section name="Visualización y análisis posteriores" id="{0c7e4a08-a4df-6499-66b9-55f181dd879a}">
          <p14:sldIdLst>
            <p14:sldId id="271"/>
            <p14:sldId id="272"/>
            <p14:sldId id="273"/>
          </p14:sldIdLst>
        </p14:section>
        <p14:section name="Integración y R vs Python" id="{0b78163d-646e-361e-443e-36d2b176c382}">
          <p14:sldIdLst>
            <p14:sldId id="274"/>
            <p14:sldId id="275"/>
          </p14:sldIdLst>
        </p14:section>
        <p14:section name="Práctica" id="{b2b732fc-c9d9-28a6-6f16-adbe3ce3a4e0}">
          <p14:sldIdLst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Mientras presento el tutorial, abran el notebook 00 desde el README y ejecuten la celda de Configuración: instala paquetes durante aproximadamente un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Medio día, de 9:00 a 12:30. El notebook 05 es una demostración en vivo; el resto es práctico. Los ejercicios tienen soluciones ocultas.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resultados, uno por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bulk te da el promedio; single-cell te dice quién está en la muestra y qué hace cada 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usamos datos de gotas de 10x, pero el análisis aplica a todos los métodos basados en conteos.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Código, UMI y cDNA: tres piezas de información por par de lecturas. El UMI es lo que hace que los conteos sean cuantitativos.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Cell Ranger es gratuito pero requiere aceptar la licencia de 10x y una máquina potente.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Revisa también el gráfico de rango de códigos (rodilla): una rodilla clara separa células de gotas vacías.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caja es un notebook de Colab. Cada notebook puede reconstruir automáticamente el paso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 y var son DataFrames de pandas, así que todo lo que sabes de pandas funciona aquí.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QC es iterativo: puedes volver después del clustering si un clúster se define solo por baja calidad.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HVGs solo se marcan, no se eliminan; todos los genes quedan en el objeto para gráficos y 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clústeres se calculan sobre el grafo, no sobre el UMAP. Cambiar parámetros del UMAP no cambia los clústeres.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notebook ejecutamos los tres sobre PBMC 3k y los comparamos con tablas cruzadas.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Muestra en vivo Gene Expression de CELLxGENE: escribe un marcador y mira qué tipos celulares lo expresan en todos los tejidos.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son una línea en Scanpy; el notebook muestra cada uno con los marcadores de PBMC.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el error estadístico más común en artículos de single-cell. Con una muestra por condición no se pueden probar condiciones.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decoupler ofrece una sola interfaz para todos estos métodos y descarga los conjuntos de genes desde OmniPath.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integración solo cambia el embedding. La expresión diferencial siempre usa los conteos originales.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 el ecosistema de tus colaboradores; los archivos .h5ad se mueven entre ambos.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Cambia al navegador y abre el notebook 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repositorio seguirá disponible después del congreso, en inglés y español.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FE8E4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FE8E4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8E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</a:rPr>
              <a:t>ISCB-LATAM SolBio SPBBC 2026 · De Células a Clústeres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8E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Células a Clústeres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FE8E4"/>
                </a:solidFill>
              </a:rPr>
              <a:t>Introducción al Análisis de Single-Cell RNA-seq en Python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rgbClr val="CFE8E4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FE8E4"/>
                </a:solidFill>
              </a:rPr>
              <a:t>Dra. Cristal Villalba Silva · UT Health San Antonio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FE8E4"/>
                </a:solidFill>
              </a:rPr>
              <a:t>ISCB-LATAM SolBio SPBBC 2026 · Lima, Perú · 9 de noviembre de 2026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4A261"/>
                </a:solidFill>
              </a:rPr>
              <a:t>github.com/Kur1sutaru/ISMB-LATAM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0241280" y="54864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plan de hoy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22960" cy="822960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6230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435608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9:00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2606040" y="1435608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Introducción (diapositivas)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822960" cy="8229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81178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624328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9:20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2606040" y="2624328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00 · Cell Ranger y AnnData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3794760"/>
            <a:ext cx="822960" cy="8229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40005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00200" y="3813048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9:40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2606040" y="3813048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01 · Control de calidad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4983480"/>
            <a:ext cx="822960" cy="8229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518922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600200" y="5001768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10:15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2606040" y="5001768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02 · PCA, UMAP, clustering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6217920" y="1417320"/>
            <a:ext cx="822960" cy="8229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3660" y="162306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269480" y="1435608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10:45</a:t>
            </a:r>
            <a:endParaRPr lang="en-US" sz="2000" dirty="0"/>
          </a:p>
        </p:txBody>
      </p:sp>
      <p:sp>
        <p:nvSpPr>
          <p:cNvPr id="22" name="Text 15"/>
          <p:cNvSpPr txBox="1"/>
          <p:nvPr/>
        </p:nvSpPr>
        <p:spPr>
          <a:xfrm>
            <a:off x="8275320" y="1435608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Pausa para café</a:t>
            </a:r>
            <a:endParaRPr lang="en-US" sz="1700" dirty="0"/>
          </a:p>
        </p:txBody>
      </p:sp>
      <p:sp>
        <p:nvSpPr>
          <p:cNvPr id="23" name="Shape 16"/>
          <p:cNvSpPr/>
          <p:nvPr/>
        </p:nvSpPr>
        <p:spPr>
          <a:xfrm>
            <a:off x="6217920" y="2606040"/>
            <a:ext cx="822960" cy="8229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660" y="2811780"/>
            <a:ext cx="411480" cy="41148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269480" y="2624328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11:00</a:t>
            </a:r>
            <a:endParaRPr lang="en-US" sz="2000" dirty="0"/>
          </a:p>
        </p:txBody>
      </p:sp>
      <p:sp>
        <p:nvSpPr>
          <p:cNvPr id="26" name="Text 18"/>
          <p:cNvSpPr txBox="1"/>
          <p:nvPr/>
        </p:nvSpPr>
        <p:spPr>
          <a:xfrm>
            <a:off x="8275320" y="2624328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03 · Anotación de tipos celulares</a:t>
            </a:r>
            <a:endParaRPr lang="en-US" sz="1700" dirty="0"/>
          </a:p>
        </p:txBody>
      </p:sp>
      <p:sp>
        <p:nvSpPr>
          <p:cNvPr id="27" name="Shape 19"/>
          <p:cNvSpPr/>
          <p:nvPr/>
        </p:nvSpPr>
        <p:spPr>
          <a:xfrm>
            <a:off x="6217920" y="3794760"/>
            <a:ext cx="822960" cy="8229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3660" y="4000500"/>
            <a:ext cx="411480" cy="41148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269480" y="3813048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11:35</a:t>
            </a:r>
            <a:endParaRPr lang="en-US" sz="2000" dirty="0"/>
          </a:p>
        </p:txBody>
      </p:sp>
      <p:sp>
        <p:nvSpPr>
          <p:cNvPr id="30" name="Text 21"/>
          <p:cNvSpPr txBox="1"/>
          <p:nvPr/>
        </p:nvSpPr>
        <p:spPr>
          <a:xfrm>
            <a:off x="8275320" y="3813048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04 · Gráficos, DEGs, vías</a:t>
            </a:r>
            <a:endParaRPr lang="en-US" sz="1700" dirty="0"/>
          </a:p>
        </p:txBody>
      </p:sp>
      <p:sp>
        <p:nvSpPr>
          <p:cNvPr id="31" name="Shape 22"/>
          <p:cNvSpPr/>
          <p:nvPr/>
        </p:nvSpPr>
        <p:spPr>
          <a:xfrm>
            <a:off x="6217920" y="4983480"/>
            <a:ext cx="822960" cy="822960"/>
          </a:xfrm>
          <a:prstGeom prst="ellipse">
            <a:avLst/>
          </a:prstGeom>
          <a:solidFill>
            <a:srgbClr val="6C5B7B"/>
          </a:solidFill>
          <a:ln w="12700">
            <a:solidFill>
              <a:srgbClr val="6C5B7B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3660" y="5189220"/>
            <a:ext cx="411480" cy="41148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7269480" y="5001768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12:05</a:t>
            </a:r>
            <a:endParaRPr lang="en-US" sz="2000" dirty="0"/>
          </a:p>
        </p:txBody>
      </p:sp>
      <p:sp>
        <p:nvSpPr>
          <p:cNvPr id="34" name="Text 24"/>
          <p:cNvSpPr txBox="1"/>
          <p:nvPr/>
        </p:nvSpPr>
        <p:spPr>
          <a:xfrm>
            <a:off x="8275320" y="5001768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05 · Integración · R vs Python</a:t>
            </a:r>
            <a:endParaRPr lang="en-US" sz="1700" dirty="0"/>
          </a:p>
        </p:txBody>
      </p:sp>
      <p:sp>
        <p:nvSpPr>
          <p:cNvPr id="35" name="Text 25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0"/>
                </a:solidFill>
              </a:rPr>
              <a:t>~65 % práctico en Google Colab · materiales en inglés y español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las 12:30 podrás…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9824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9451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45920"/>
            <a:ext cx="4261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Pasar de una matriz de Cell Ranger a un objeto AnnData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190488" y="1417320"/>
            <a:ext cx="5449824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19088" y="1645920"/>
            <a:ext cx="594360" cy="5943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678" y="1794510"/>
            <a:ext cx="297180" cy="2971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150608" y="1645920"/>
            <a:ext cx="4261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Eliminar células de baja calidad y dobletes, normalizar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2971800"/>
            <a:ext cx="5449824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77240" y="3200400"/>
            <a:ext cx="594360" cy="5943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334899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200400"/>
            <a:ext cx="4261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Reducir dimensiones, construir UMAPs, agrupar células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6190488" y="2971800"/>
            <a:ext cx="5449824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19088" y="3200400"/>
            <a:ext cx="594360" cy="5943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678" y="3348990"/>
            <a:ext cx="297180" cy="2971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150608" y="3200400"/>
            <a:ext cx="4261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Anotar tipos celulares con marcadores, bases de datos y atlas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548640" y="4526280"/>
            <a:ext cx="5449824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77240" y="4754880"/>
            <a:ext cx="594360" cy="594360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" y="4903470"/>
            <a:ext cx="297180" cy="2971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508760" y="4754880"/>
            <a:ext cx="4261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Hacer figuras claras, encontrar DEGs, interpretar vías</a:t>
            </a:r>
            <a:endParaRPr lang="en-US" sz="1700" dirty="0"/>
          </a:p>
        </p:txBody>
      </p:sp>
      <p:sp>
        <p:nvSpPr>
          <p:cNvPr id="23" name="Shape 16"/>
          <p:cNvSpPr/>
          <p:nvPr/>
        </p:nvSpPr>
        <p:spPr>
          <a:xfrm>
            <a:off x="6190488" y="4526280"/>
            <a:ext cx="5449824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419088" y="4754880"/>
            <a:ext cx="594360" cy="594360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7678" y="4903470"/>
            <a:ext cx="297180" cy="29718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150608" y="4754880"/>
            <a:ext cx="4261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Integrar muestras, comparar condiciones, traducir a 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single-cell? Batido vs. ensalada de frutas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84023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916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RNA-seq bulk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 perfil promedio por muestra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 cambio puede ser de expresión o de composición celular, y no se puede distinguir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Las células raras (&lt; 5 %) son invisibles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Barato, profundo, muchas réplicas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45352" y="146304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73952" y="1691640"/>
            <a:ext cx="594360" cy="5943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542" y="184023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05472" y="16916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Single-cell RNA-seq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473952" y="242316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 perfil por célula: de miles a millones de células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Descubrir tipos y estados celulares, incluso raros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Medir composición y respuestas específicas de cada tipo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Disperso (la mayoría de valores son 0), ruidoso, más caro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Principales tecnologías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51760" cy="42062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84023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916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Gotas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2194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10x Chromium, Drop-seq. 1k–20k células por canal, conteos 3' o 5' con UMIs. La opción más común.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64992" y="1463040"/>
            <a:ext cx="2651760" cy="42062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93592" y="1691640"/>
            <a:ext cx="594360" cy="594360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182" y="184023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25112" y="16916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Placas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93592" y="2423160"/>
            <a:ext cx="2194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Smart-seq2/3. Cientos de células, transcritos completos: isoformas, mutaciones, alta sensibilidad.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181344" y="1463040"/>
            <a:ext cx="2651760" cy="42062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9944" y="1691640"/>
            <a:ext cx="594360" cy="594360"/>
          </a:xfrm>
          <a:prstGeom prst="ellipse">
            <a:avLst/>
          </a:prstGeom>
          <a:solidFill>
            <a:srgbClr val="6C5B7B"/>
          </a:solidFill>
          <a:ln w="12700">
            <a:solidFill>
              <a:srgbClr val="6C5B7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534" y="184023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141464" y="16916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Indexado combinatorio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09944" y="2423160"/>
            <a:ext cx="2194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SPLiT-seq, Parse, sci-RNA-seq. Hasta millones de células y muchas muestras, células fijadas.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8997696" y="1463040"/>
            <a:ext cx="2651760" cy="42062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226296" y="1691640"/>
            <a:ext cx="594360" cy="5943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4886" y="1840230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957816" y="16916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Espacial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9226296" y="2423160"/>
            <a:ext cx="2194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Visium HD, Xenium, MERFISH, CosMx. Expresión con su posición en el tejido.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0"/>
                </a:solidFill>
              </a:rPr>
              <a:t>El single-nucleus RNA-seq (snRNA-seq) funciona con tejido congelado y células difíciles de disociar (neuronas, adipocitos); el análisis es casi idéntico.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 10x Chromium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532888" cy="1737360"/>
          </a:xfrm>
          <a:prstGeom prst="roundRect">
            <a:avLst>
              <a:gd name="adj" fmla="val 526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581912"/>
            <a:ext cx="231343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 · Encapsular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Célula + perla con códigos en una gota de aceite (GEM)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rot="5400000">
            <a:off x="3113532" y="228600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01568" y="1508760"/>
            <a:ext cx="2532888" cy="1737360"/>
          </a:xfrm>
          <a:prstGeom prst="roundRect">
            <a:avLst>
              <a:gd name="adj" fmla="val 526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11296" y="1581912"/>
            <a:ext cx="231343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 · Lisar y marcar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mRNA capturado por poli(dT); cada molécula recibe código celular + UMI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 rot="5400000">
            <a:off x="5966460" y="228600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54496" y="1508760"/>
            <a:ext cx="2532888" cy="1737360"/>
          </a:xfrm>
          <a:prstGeom prst="roundRect">
            <a:avLst>
              <a:gd name="adj" fmla="val 526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64224" y="1581912"/>
            <a:ext cx="231343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 · Juntar y amplificar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Romper gotas, transcripción reversa, PCR, construir la biblioteca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 rot="5400000">
            <a:off x="8819388" y="228600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07424" y="1508760"/>
            <a:ext cx="2532888" cy="1737360"/>
          </a:xfrm>
          <a:prstGeom prst="roundRect">
            <a:avLst>
              <a:gd name="adj" fmla="val 526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17152" y="1581912"/>
            <a:ext cx="231343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 · Secuenciar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Illumina paired-end, ~20–50k lecturas por célula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657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Estructura de las lecturas (3' v3/v4)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06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Read 1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737360" y="4206240"/>
            <a:ext cx="2926080" cy="502920"/>
          </a:xfrm>
          <a:prstGeom prst="rect">
            <a:avLst/>
          </a:prstGeom>
          <a:solidFill>
            <a:srgbClr val="E76F5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737360" y="42062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Código celular · 16 pb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4206240"/>
            <a:ext cx="2194560" cy="502920"/>
          </a:xfrm>
          <a:prstGeom prst="rect">
            <a:avLst/>
          </a:prstGeom>
          <a:solidFill>
            <a:srgbClr val="F4A2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4206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UMI · 12 pb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0" y="4206240"/>
            <a:ext cx="1463040" cy="502920"/>
          </a:xfrm>
          <a:prstGeom prst="rect">
            <a:avLst/>
          </a:prstGeom>
          <a:solidFill>
            <a:srgbClr val="9FB8B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4206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poly(dT)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892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Read 2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737360" y="4892040"/>
            <a:ext cx="658368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737360" y="48920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cDNA · ~90 pb → qué gen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0" y="416052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Código → qué célula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UMI → qué molécula (elimina duplicados de PCR)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cDNA → qué gen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 Ranger: de FASTQ a matriz de conteos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32888" cy="1325880"/>
          </a:xfrm>
          <a:prstGeom prst="roundRect">
            <a:avLst>
              <a:gd name="adj" fmla="val 689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536192"/>
            <a:ext cx="231343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Alinear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STAR al genoma + anotación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rot="5400000">
            <a:off x="3113532" y="203454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01568" y="1463040"/>
            <a:ext cx="2532888" cy="1325880"/>
          </a:xfrm>
          <a:prstGeom prst="roundRect">
            <a:avLst>
              <a:gd name="adj" fmla="val 689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11296" y="1536192"/>
            <a:ext cx="231343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Códigos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Corregir contra la lista de 10x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 rot="5400000">
            <a:off x="5966460" y="203454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54496" y="1463040"/>
            <a:ext cx="2532888" cy="1325880"/>
          </a:xfrm>
          <a:prstGeom prst="roundRect">
            <a:avLst>
              <a:gd name="adj" fmla="val 689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64224" y="1536192"/>
            <a:ext cx="231343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Contar UMIs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Mismo código + UMI + gen = 1 molécula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 rot="5400000">
            <a:off x="8819388" y="203454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07424" y="1463040"/>
            <a:ext cx="2532888" cy="1325880"/>
          </a:xfrm>
          <a:prstGeom prst="roundRect">
            <a:avLst>
              <a:gd name="adj" fmla="val 689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17152" y="1536192"/>
            <a:ext cx="231343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Identificar células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Separar células de gotas vacías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6766560" cy="1143000"/>
          </a:xfrm>
          <a:prstGeom prst="roundRect">
            <a:avLst>
              <a:gd name="adj" fmla="val 8000"/>
            </a:avLst>
          </a:prstGeom>
          <a:solidFill>
            <a:srgbClr val="17262B"/>
          </a:solidFill>
          <a:ln w="12700">
            <a:solidFill>
              <a:srgbClr val="1726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154680"/>
            <a:ext cx="6492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cellranger count --id=sample1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7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--transcriptome=refdata-gex-GRCh38-2024-A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7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--fastqs=fastqs/ --sample=sample1 --create-bam=true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89520" y="3108960"/>
            <a:ext cx="4050792" cy="2971800"/>
          </a:xfrm>
          <a:prstGeom prst="roundRect">
            <a:avLst>
              <a:gd name="adj" fmla="val 3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18120" y="3337560"/>
            <a:ext cx="594360" cy="594360"/>
          </a:xfrm>
          <a:prstGeom prst="ellipse">
            <a:avLst/>
          </a:prstGeom>
          <a:solidFill>
            <a:srgbClr val="6C5B7B"/>
          </a:solidFill>
          <a:ln w="12700">
            <a:solidFill>
              <a:srgbClr val="6C5B7B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6710" y="3486150"/>
            <a:ext cx="297180" cy="29718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549640" y="3337560"/>
            <a:ext cx="2862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Alternativas abiertas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7818120" y="4069080"/>
            <a:ext cx="359359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STARsolo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alevin-fry / simpleaf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kallisto | bustools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Más rápidas, gratuitas, en cualquier servidor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44805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Necesita un servidor Linux (≥ 64 GB de RAM), no Colab.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Una ejecución por muestra; usa cellranger multi para bibliotecas multiplexadas o multimodales.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te entrega Cell Ranger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675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Archivo en outs/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Úsalo para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</a:rPr>
                        <a:t>web_summary.html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</a:rPr>
                        <a:t>Reporte de calidad: ábrelo siempre primero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</a:rPr>
                        <a:t>filtered_feature_bc_matrix(.h5)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</a:rPr>
                        <a:t>Conteos de células identificadas → nuestro análisis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</a:rPr>
                        <a:t>raw_feature_bc_matrix(.h5)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</a:rPr>
                        <a:t>Todos los códigos → eliminar RNA ambiental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</a:rPr>
                        <a:t>metrics_summary.csv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</a:rPr>
                        <a:t>Comparar muestras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</a:rPr>
                        <a:t>possorted_genome_bam.bam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</a:rPr>
                        <a:t>Velocidad, genotipado (rara vez)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</a:rPr>
                        <a:t>cloupe.cloupe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</a:rPr>
                        <a:t>Exploración en Loupe Browser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680960" y="1417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Revisa en web_summary.html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7680960" y="19202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70 %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2606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lecturas en células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32461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60 %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3931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lecturas mapeadas al transcriptoma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45720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1,000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5257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mediana de genes por célula (según tejido)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que seguimos hoy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581912" cy="1645920"/>
          </a:xfrm>
          <a:prstGeom prst="roundRect">
            <a:avLst>
              <a:gd name="adj" fmla="val 578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627632"/>
            <a:ext cx="136245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00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Cargar matriz · AnnData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 rot="5400000">
            <a:off x="2162556" y="228600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50592" y="1554480"/>
            <a:ext cx="1581912" cy="1645920"/>
          </a:xfrm>
          <a:prstGeom prst="roundRect">
            <a:avLst>
              <a:gd name="adj" fmla="val 578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627632"/>
            <a:ext cx="136245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01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QC · dobletes · normalizar · HVGs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 rot="5400000">
            <a:off x="4064508" y="228600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52544" y="1554480"/>
            <a:ext cx="1581912" cy="1645920"/>
          </a:xfrm>
          <a:prstGeom prst="roundRect">
            <a:avLst>
              <a:gd name="adj" fmla="val 578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62272" y="1627632"/>
            <a:ext cx="136245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02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PCA · kNN · UMAP · Leiden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 rot="5400000">
            <a:off x="5966460" y="228600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54496" y="1554480"/>
            <a:ext cx="1581912" cy="1645920"/>
          </a:xfrm>
          <a:prstGeom prst="roundRect">
            <a:avLst>
              <a:gd name="adj" fmla="val 578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64224" y="1627632"/>
            <a:ext cx="136245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03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Anotar tipos celulares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 rot="5400000">
            <a:off x="7868412" y="228600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56448" y="1554480"/>
            <a:ext cx="1581912" cy="1645920"/>
          </a:xfrm>
          <a:prstGeom prst="roundRect">
            <a:avLst>
              <a:gd name="adj" fmla="val 578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66176" y="1627632"/>
            <a:ext cx="136245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04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Gráficos · DEGs · vías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 rot="5400000">
            <a:off x="9770364" y="228600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0" y="1554480"/>
            <a:ext cx="1581912" cy="1645920"/>
          </a:xfrm>
          <a:prstGeom prst="roundRect">
            <a:avLst>
              <a:gd name="adj" fmla="val 578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68128" y="1627632"/>
            <a:ext cx="136245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05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Integrar · condiciones · R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539496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3840480"/>
            <a:ext cx="594360" cy="5943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3989070"/>
            <a:ext cx="297180" cy="29718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508760" y="38404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Datos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45720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PBMC 3k (10x): 2.700 células de sangre, donante sano → notebooks 00–04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Kang 2018: 8 donantes, control vs IFN-β → notebook 05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245352" y="3611880"/>
            <a:ext cx="539496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73952" y="3840480"/>
            <a:ext cx="594360" cy="594360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542" y="3989070"/>
            <a:ext cx="297180" cy="29718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205472" y="38404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Herramientas (scverse)</a:t>
            </a:r>
            <a:endParaRPr lang="en-US" sz="1700" dirty="0"/>
          </a:p>
        </p:txBody>
      </p:sp>
      <p:sp>
        <p:nvSpPr>
          <p:cNvPr id="29" name="Text 25"/>
          <p:cNvSpPr txBox="1"/>
          <p:nvPr/>
        </p:nvSpPr>
        <p:spPr>
          <a:xfrm>
            <a:off x="6473952" y="45720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Scanpy + AnnData para el análisis central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decoupler, CellTypist, harmonypy, BBKNN, PyDESeq2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AnnData: un objeto para todo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0" y="2103120"/>
            <a:ext cx="3840480" cy="29260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0" y="210312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X</a:t>
            </a:r>
            <a:endParaRPr lang="en-US" sz="30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células × genes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0" y="1463040"/>
            <a:ext cx="3840480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43200" y="1463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var · una fila por gen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103120" cy="29260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103120"/>
            <a:ext cx="2011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obs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una fila por célula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(QC, clústeres, tipos)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86600" y="1463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adata.layers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62B"/>
                </a:solidFill>
              </a:rPr>
              <a:t>otras matrices de igual forma (conteos crudos)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235915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adata.obsm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62B"/>
                </a:solidFill>
              </a:rPr>
              <a:t>embeddings por célula (X_pca, X_umap)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3255264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adata.obsp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62B"/>
                </a:solidFill>
              </a:rPr>
              <a:t>grafos célula–célula (vecinos)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4151376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adata.uns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62B"/>
                </a:solidFill>
              </a:rPr>
              <a:t>todo lo demás (colores, parámetros, resultados de DE)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504748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adata.raw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62B"/>
                </a:solidFill>
              </a:rPr>
              <a:t>copia fija de los datos log-normalizados, todos los genes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3492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0"/>
                </a:solidFill>
              </a:rPr>
              <a:t>Se guarda como .h5ad · Equivalentes en R: Seurat, SingleCellExperiment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· Control de calidad: no todo código es una buena célula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84023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Células muriendo / rotas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Pocos genes, alto % de lecturas mitocondriales. Filtrar por % MT y mín. de genes.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06824" y="1463040"/>
            <a:ext cx="35661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35424" y="1691640"/>
            <a:ext cx="594360" cy="594360"/>
          </a:xfrm>
          <a:prstGeom prst="ellipse">
            <a:avLst/>
          </a:prstGeom>
          <a:solidFill>
            <a:srgbClr val="6C5B7B"/>
          </a:solidFill>
          <a:ln w="12700">
            <a:solidFill>
              <a:srgbClr val="6C5B7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014" y="184023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66944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Dobletes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35424" y="24231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Dos células en una gota: demasiados UMIs y marcadores mezclados. Detectar con Scrublet / scDblFinder.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065008" y="1463040"/>
            <a:ext cx="35661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93608" y="1691640"/>
            <a:ext cx="594360" cy="5943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198" y="184023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25128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RNA ambiental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293608" y="24231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mRNA libre en todas las gotas. Corregir con SoupX, CellBender, scAR.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48640" y="4389120"/>
            <a:ext cx="11091672" cy="1645920"/>
          </a:xfrm>
          <a:prstGeom prst="roundRect">
            <a:avLst>
              <a:gd name="adj" fmla="val 5556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22960" y="448056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</a:rPr>
              <a:t>Elegir umbrales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Cortes fijos (p. ej. 200–2.500 genes, &lt; 5 % MT para PBMCs) o basados en los datos: &gt; 5 MADs de la mediana. El tejido importa: neuronas y cardiomiocitos tienen naturalmente alto % MT. Reporta siempre lo que usaste.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01–02 · De conteos a un espacio de baja dimensión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32888" cy="1463040"/>
          </a:xfrm>
          <a:prstGeom prst="roundRect">
            <a:avLst>
              <a:gd name="adj" fmla="val 625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536192"/>
            <a:ext cx="231343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Conteos crudos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~30k genes, profundidad distinta por célula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rot="5400000">
            <a:off x="3113532" y="210312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01568" y="1463040"/>
            <a:ext cx="2532888" cy="146304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11296" y="1536192"/>
            <a:ext cx="231343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Normalizar + log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conteos por 10k → log(x+1)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 rot="5400000">
            <a:off x="5966460" y="210312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54496" y="1463040"/>
            <a:ext cx="2532888" cy="146304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64224" y="1536192"/>
            <a:ext cx="231343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HVGs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conservar ~2.000 genes informativos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 rot="5400000">
            <a:off x="8819388" y="210312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07424" y="1463040"/>
            <a:ext cx="2532888" cy="1463040"/>
          </a:xfrm>
          <a:prstGeom prst="roundRect">
            <a:avLst>
              <a:gd name="adj" fmla="val 625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17152" y="1536192"/>
            <a:ext cx="231343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PCA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~30 ejes capturan la biología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5394960" cy="2788920"/>
          </a:xfrm>
          <a:prstGeom prst="roundRect">
            <a:avLst>
              <a:gd name="adj" fmla="val 39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474720"/>
            <a:ext cx="594360" cy="5943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3623310"/>
            <a:ext cx="297180" cy="29718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508760" y="34747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¡Guarda los conteos crudos!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20624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adata.layers["counts"] antes de normalizar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DE pseudobulk y scVI necesitan enteros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Alternativas: scran, residuos de Pearson, SCTransform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245352" y="3246120"/>
            <a:ext cx="5394960" cy="2788920"/>
          </a:xfrm>
          <a:prstGeom prst="roundRect">
            <a:avLst>
              <a:gd name="adj" fmla="val 39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73952" y="3474720"/>
            <a:ext cx="594360" cy="5943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542" y="3623310"/>
            <a:ext cx="297180" cy="29718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205472" y="34747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¿Cuántos PCs?</a:t>
            </a:r>
            <a:endParaRPr lang="en-US" sz="1700" dirty="0"/>
          </a:p>
        </p:txBody>
      </p:sp>
      <p:sp>
        <p:nvSpPr>
          <p:cNvPr id="23" name="Text 19"/>
          <p:cNvSpPr txBox="1"/>
          <p:nvPr/>
        </p:nvSpPr>
        <p:spPr>
          <a:xfrm>
            <a:off x="6473952" y="420624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Busca el codo en el gráfico de varianza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Unos pocos de más es más seguro que de menos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PBMC 3k: codo ~10–15, usamos 30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· Vecinos, UMAP y clustering con Leiden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 flipH="1">
            <a:off x="1645920" y="1737360"/>
            <a:ext cx="548640" cy="27432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2011680"/>
            <a:ext cx="365760" cy="54864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1737360"/>
            <a:ext cx="457200" cy="54864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2011680" y="2286000"/>
            <a:ext cx="640080" cy="27432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1554480" y="2560320"/>
            <a:ext cx="457200" cy="27432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1554480" y="2011680"/>
            <a:ext cx="91440" cy="82296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1828800"/>
            <a:ext cx="548640" cy="27432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4297680" y="2103120"/>
            <a:ext cx="365760" cy="45720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1828800"/>
            <a:ext cx="182880" cy="73152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4663440" y="1645920"/>
            <a:ext cx="182880" cy="45720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4114800" y="1645920"/>
            <a:ext cx="731520" cy="18288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2926080" y="3749040"/>
            <a:ext cx="548640" cy="27432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3200400" y="3749040"/>
            <a:ext cx="274320" cy="73152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0" y="4023360"/>
            <a:ext cx="274320" cy="45720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3200400" y="4297680"/>
            <a:ext cx="640080" cy="18288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3749040"/>
            <a:ext cx="365760" cy="54864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2651760" y="1828800"/>
            <a:ext cx="1463040" cy="45720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51760" y="2286000"/>
            <a:ext cx="822960" cy="146304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17904" y="1883664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66544" y="1609344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83664" y="2432304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3744" y="2157984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26464" y="2706624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86784" y="1700784"/>
            <a:ext cx="256032" cy="25603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35424" y="1975104"/>
            <a:ext cx="256032" cy="25603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69664" y="2432304"/>
            <a:ext cx="256032" cy="25603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18304" y="1517904"/>
            <a:ext cx="256032" cy="25603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98064" y="3895344"/>
            <a:ext cx="256032" cy="256032"/>
          </a:xfrm>
          <a:prstGeom prst="ellipse">
            <a:avLst/>
          </a:prstGeom>
          <a:solidFill>
            <a:srgbClr val="6C5B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46704" y="3621024"/>
            <a:ext cx="256032" cy="256032"/>
          </a:xfrm>
          <a:prstGeom prst="ellipse">
            <a:avLst/>
          </a:prstGeom>
          <a:solidFill>
            <a:srgbClr val="6C5B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72384" y="4352544"/>
            <a:ext cx="256032" cy="256032"/>
          </a:xfrm>
          <a:prstGeom prst="ellipse">
            <a:avLst/>
          </a:prstGeom>
          <a:solidFill>
            <a:srgbClr val="6C5B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12464" y="4169664"/>
            <a:ext cx="256032" cy="256032"/>
          </a:xfrm>
          <a:prstGeom prst="ellipse">
            <a:avLst/>
          </a:prstGeom>
          <a:solidFill>
            <a:srgbClr val="6C5B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48920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0"/>
                </a:solidFill>
              </a:rPr>
              <a:t>Grafo kNN: cada célula unida a sus 15 células más parecidas; Leiden encuentra comunidades densamente conectadas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0" y="1463040"/>
            <a:ext cx="6153912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15000" y="1691640"/>
            <a:ext cx="594360" cy="594360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3590" y="1840230"/>
            <a:ext cx="297180" cy="297180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6446520" y="1691640"/>
            <a:ext cx="4965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UMAP es un dibujo, no una medición</a:t>
            </a:r>
            <a:endParaRPr lang="en-US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715000" y="2423160"/>
            <a:ext cx="5696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 conservan los vecindarios locales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Las distancias entre clústeres y sus tamaños no son confiables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5486400" y="3840480"/>
            <a:ext cx="6153912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715000" y="4069080"/>
            <a:ext cx="594360" cy="5943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590" y="4217670"/>
            <a:ext cx="297180" cy="297180"/>
          </a:xfrm>
          <a:prstGeom prst="rect">
            <a:avLst/>
          </a:prstGeom>
        </p:spPr>
      </p:pic>
      <p:sp>
        <p:nvSpPr>
          <p:cNvPr id="43" name="Text 39"/>
          <p:cNvSpPr txBox="1"/>
          <p:nvPr/>
        </p:nvSpPr>
        <p:spPr>
          <a:xfrm>
            <a:off x="6446520" y="4069080"/>
            <a:ext cx="4965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La resolución es una elección</a:t>
            </a:r>
            <a:endParaRPr lang="en-US" sz="1700" dirty="0"/>
          </a:p>
        </p:txBody>
      </p:sp>
      <p:sp>
        <p:nvSpPr>
          <p:cNvPr id="44" name="Text 40"/>
          <p:cNvSpPr txBox="1"/>
          <p:nvPr/>
        </p:nvSpPr>
        <p:spPr>
          <a:xfrm>
            <a:off x="5715000" y="4800600"/>
            <a:ext cx="5696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Mayor resolución → más clústeres, más pequeños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Compara varias (0,3, 0,8, 1,5) y guíate por la biología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· Tres formas de nombrar tus clústeres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84023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Manual · genes marcadores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rank_genes_groups → genes top por clúster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Comparar con marcadores conocidos (dot plot)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Transparente, usa tu experiencia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06824" y="1463040"/>
            <a:ext cx="35661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35424" y="1691640"/>
            <a:ext cx="594360" cy="594360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014" y="184023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66944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Bases de marcadores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35424" y="2423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PanglaoDB, CellMarker 2.0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Puntuar cada célula (ULM de decoupler)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Rápido, pero listas genéricas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065008" y="1463040"/>
            <a:ext cx="35661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93608" y="1691640"/>
            <a:ext cx="594360" cy="5943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198" y="184023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25128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Referencias y clasificadores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293608" y="2423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CellTypist, sc.tl.ingest, scANVI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R: SingleR, Azimuth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Reproducible; no encuentra tipos nuevos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48640" y="498348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22960" y="498348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Combínalos: la concordancia entre métodos independientes es tu evidencia; las discrepancias te dicen dónde mirar con más cuidado.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· Dónde encontrar referencias y registrar anotaciones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84023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PanglaoDB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Marcadores curados, humano y ratón · panglaodb.se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06824" y="146304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35424" y="1691640"/>
            <a:ext cx="594360" cy="594360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014" y="184023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66944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CZ CELLxGENE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35424" y="24231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&gt; 100 M células estandarizadas; Explorer, Gene Expression, API Census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065008" y="146304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93608" y="1691640"/>
            <a:ext cx="594360" cy="5943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198" y="184023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25128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Single Cell Portal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293608" y="24231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Broad Institute: cientos de estudios, gráficos y descargas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48640" y="3840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77240" y="4069080"/>
            <a:ext cx="594360" cy="594360"/>
          </a:xfrm>
          <a:prstGeom prst="ellipse">
            <a:avLst/>
          </a:prstGeom>
          <a:solidFill>
            <a:srgbClr val="6C5B7B"/>
          </a:solidFill>
          <a:ln w="12700">
            <a:solidFill>
              <a:srgbClr val="6C5B7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4217670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08760" y="4069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Cell Annotation Platform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4800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CAP · celltype.info: registra etiquetas con evidencia y compártelas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4306824" y="3840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35424" y="4069080"/>
            <a:ext cx="594360" cy="5943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4014" y="4217670"/>
            <a:ext cx="297180" cy="2971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266944" y="4069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CellTypist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4535424" y="4800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Clasificadores preentrenados: inmune, pulmón, intestino, cerebro…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8065008" y="3840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293608" y="4069080"/>
            <a:ext cx="594360" cy="594360"/>
          </a:xfrm>
          <a:prstGeom prst="ellipse">
            <a:avLst/>
          </a:prstGeom>
          <a:solidFill>
            <a:srgbClr val="8AB17D"/>
          </a:solidFill>
          <a:ln w="12700">
            <a:solidFill>
              <a:srgbClr val="8AB17D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2198" y="4217670"/>
            <a:ext cx="297180" cy="2971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25128" y="4069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Cell Ontology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8293608" y="4800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IDs estándar (CL:0000236 = célula B) que hacen reutilizables las etiquetas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· Elige el gráfico según la pregunta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486400"/>
                <a:gridCol w="32278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Gráfico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Pregunta que responde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Scanpy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UMAP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¿Dónde están los tipos celulares? ¿Dónde se expresa el gen X?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sc.pl.umap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Violin / stacked violin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¿Cómo se distribuye un gen en cada grupo?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sc.pl.violin, sc.pl.stacked_violin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Dot plot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Muchos marcadores × grupos: % que expresa y nivel medio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sc.pl.dotplot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Matrix plot / heatmap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Medias compactas, o heterogeneidad célula a célula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sc.pl.matrixplot, sc.pl.heatmap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Barras de proporción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¿Cómo cambia la composición entre muestras?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pandas + matplotlib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Volcano plot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¿Qué genes cambian, cuánto y con qué significancia?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matplotlib / decoupler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0"/>
                </a:solidFill>
              </a:rPr>
              <a:t>Consejos: paletas seguras para daltonismo (viridis), etiquetas sobre los datos, vmax="p99" para controlar valores extremos, guarda en PDF/SVG.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04–05 · Expresión diferencial: ¿qué prueba?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84023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916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Marcadores entre clústeres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Wilcoxon por célula: rank_genes_groups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Útil para describir y anotar clústeres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Los p-valores son optimistas: los genes se usaron para formar los clústeres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45352" y="1463040"/>
            <a:ext cx="53949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73952" y="1691640"/>
            <a:ext cx="594360" cy="5943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542" y="184023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05472" y="16916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Condiciones (enfermedad vs. control)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473952" y="242316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Pseudobulk: sumar conteos por muestra × tipo celular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DESeq2 / edgeR con el donante como réplica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Necesita ≥ 3 réplicas biológicas por condición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498348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498348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Las células de una persona no son réplicas independientes. Tratarlas así produce miles de falsos positivos (Squair et al. 2021).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· ¿Qué significan los genes?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84023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Sobrerrepresentación (ORA)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DEGs top vs. conjuntos de genes (prueba de Fisher)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MSigDB Hallmark, GO, Reactome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Simple; depende de un corte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06824" y="1463040"/>
            <a:ext cx="356616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35424" y="1691640"/>
            <a:ext cx="594360" cy="5943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014" y="184023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66944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Actividad de vías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35424" y="24231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Huellas de PROGENy: genes blanco con peso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Puntaje por célula o por contraste (ULM)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Usa dirección e intensidad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065008" y="1463040"/>
            <a:ext cx="356616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93608" y="1691640"/>
            <a:ext cx="594360" cy="594360"/>
          </a:xfrm>
          <a:prstGeom prst="ellipse">
            <a:avLst/>
          </a:prstGeom>
          <a:solidFill>
            <a:srgbClr val="6C5B7B"/>
          </a:solidFill>
          <a:ln w="12700">
            <a:solidFill>
              <a:srgbClr val="6C5B7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198" y="184023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25128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Firmas génicas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293608" y="24231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Cualquier lista de un artículo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sc.tl.score_genes por célula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p. ej. respuesta a interferón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8920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Más allá de hoy: comunicación célula–célula (LIANA+, CellChat), trayectorias (PAGA, scVelo, CellRank), actividad de TFs (CollecTRI), espacial (Squidpy).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· Integración: alinear muestras, conservar la biología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920240"/>
                <a:gridCol w="4965192"/>
                <a:gridCol w="201168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Método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Trabaja sobre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Fortalezas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Lenguajes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Harmony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PCA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Rápido, simple, buena opción por defecto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R · Python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BBKNN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Grafo kNN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Muy rápido; solo grafo (clustering, UMAP)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Python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scVI / scANVI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Conteos crudos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Lotes complejos, atlas; transferencia de etiquetas; GPU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Python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Seurat CCA / RPCA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Anclas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Bien documentado, muy usado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343400"/>
            <a:ext cx="53949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4572000"/>
            <a:ext cx="594360" cy="5943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4720590"/>
            <a:ext cx="297180" cy="2971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45720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Mezcla de lotes ↑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53035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Células del mismo tipo de distintas muestras son vecinas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245352" y="4343400"/>
            <a:ext cx="53949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473952" y="4572000"/>
            <a:ext cx="594360" cy="5943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542" y="4720590"/>
            <a:ext cx="297180" cy="2971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205472" y="45720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Conservación biológica ↑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6473952" y="53035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Los distintos tipos celulares siguen separados (métricas scIB)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¿R o Python? Ambos, y puedes moverte entre ellos</a:t>
            </a:r>
            <a:endParaRPr lang="en-US" sz="3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5895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926080"/>
                <a:gridCol w="29260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Paso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Python (scverse)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 (Seurat / Bioconductor)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Objeto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AnnData (.h5ad)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Seurat (.rds) · SingleCellExperiment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QC · doublets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calculate_qc_metrics · scrublet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PercentageFeatureSet · scDblFinder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Normalizar · HVG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normalize_total + log1p · highly_variable_genes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NormalizeData / SCTransform · FindVariableFeatures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Grafo · clústeres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neighbors · leiden · umap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FindNeighbors · FindClusters · RunUMAP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Marcadores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rank_genes_groups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FindAllMarkers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Anotación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CellTypist · ingest · scANVI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SingleR · Azimuth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DE pseudobulk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decoupler + PyDESeq2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muscat · DESeq2 · edgeR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412480" y="1417320"/>
            <a:ext cx="3227832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41080" y="1645920"/>
            <a:ext cx="594360" cy="5943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9670" y="1794510"/>
            <a:ext cx="297180" cy="2971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372600" y="1645920"/>
            <a:ext cx="2039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Python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8641080" y="2377440"/>
            <a:ext cx="2770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Millones de células, GPUs, aprendizaje profundo (scvi-tools), pipelines de ML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412480" y="3840480"/>
            <a:ext cx="3227832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641080" y="4069080"/>
            <a:ext cx="594360" cy="594360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9670" y="4217670"/>
            <a:ext cx="297180" cy="2971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372600" y="4069080"/>
            <a:ext cx="2039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8641080" y="4800600"/>
            <a:ext cx="2770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Estadística de Bioconductor, muchos métodos especializados, viñetas pulidas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53492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0"/>
                </a:solidFill>
              </a:rPr>
              <a:t>Convertir: zellkonverter::readH5AD() · anndata2ri · rpy2. Los valores por defecto difieren: resultados parecidos, no idénticos.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Empecemos: Google Colab en 4 pasos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532888" cy="182880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581912"/>
            <a:ext cx="231343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 · Abrir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github.com/Kur1sutaru/ISMB-LATAM → Abrir en Colab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 rot="5400000">
            <a:off x="3113532" y="233172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01568" y="1508760"/>
            <a:ext cx="2532888" cy="1828800"/>
          </a:xfrm>
          <a:prstGeom prst="roundRect">
            <a:avLst>
              <a:gd name="adj" fmla="val 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11296" y="1581912"/>
            <a:ext cx="231343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 · Copiar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Archivo → Guardar una copia en Drive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 rot="5400000">
            <a:off x="5966460" y="233172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54496" y="1508760"/>
            <a:ext cx="2532888" cy="182880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64224" y="1581912"/>
            <a:ext cx="231343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 · Configurar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Ejecuta la primera celda de código (~1 min)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 rot="5400000">
            <a:off x="8819388" y="233172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07424" y="1508760"/>
            <a:ext cx="2532888" cy="182880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17152" y="1581912"/>
            <a:ext cx="231343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 · Ejecutar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Shift + Enter, celda por celda, en orden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3949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86200"/>
            <a:ext cx="594360" cy="5943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4034790"/>
            <a:ext cx="297180" cy="29718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508760" y="38862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Para tener en cuenta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6177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🟢 Core = en vivo · 🔎 Extra = estudio individual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Cada notebook reconstruye el paso anterior si es necesario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USE_DRIVE = True guarda resultados en Drive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245352" y="3657600"/>
            <a:ext cx="53949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73952" y="3886200"/>
            <a:ext cx="594360" cy="5943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542" y="4034790"/>
            <a:ext cx="297180" cy="29718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205472" y="38862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 algo falla</a:t>
            </a:r>
            <a:endParaRPr lang="en-US" sz="1700" dirty="0"/>
          </a:p>
        </p:txBody>
      </p:sp>
      <p:sp>
        <p:nvSpPr>
          <p:cNvPr id="23" name="Text 19"/>
          <p:cNvSpPr txBox="1"/>
          <p:nvPr/>
        </p:nvSpPr>
        <p:spPr>
          <a:xfrm>
            <a:off x="6473952" y="46177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Entorno de ejecución → Reiniciar sesión y ejecutar todo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"Google no creó este notebook" → Ejecutar de todos modos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Levanta la mano: hay ayudantes en la sala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Sigue aprendiendo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9824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9451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45920"/>
            <a:ext cx="4261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Single-cell best practices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2240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</a:rPr>
              <a:t>sc-best-practices.org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90488" y="1417320"/>
            <a:ext cx="5449824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19088" y="1645920"/>
            <a:ext cx="594360" cy="594360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678" y="179451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50608" y="1645920"/>
            <a:ext cx="4261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Tutoriales de Scanpy y scverse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7150608" y="2240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</a:rPr>
              <a:t>scanpy.readthedocs.io · scverse.org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2990088"/>
            <a:ext cx="5449824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7240" y="3218688"/>
            <a:ext cx="594360" cy="594360"/>
          </a:xfrm>
          <a:prstGeom prst="ellipse">
            <a:avLst/>
          </a:prstGeom>
          <a:solidFill>
            <a:srgbClr val="6C5B7B"/>
          </a:solidFill>
          <a:ln w="12700">
            <a:solidFill>
              <a:srgbClr val="6C5B7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3367278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218688"/>
            <a:ext cx="4261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OSCA (Bioconductor) · Seurat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38130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</a:rPr>
              <a:t>bioconductor.org/books/release/OSCA · satijalab.org/seurat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190488" y="2990088"/>
            <a:ext cx="5449824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19088" y="3218688"/>
            <a:ext cx="594360" cy="5943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678" y="3367278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50608" y="3218688"/>
            <a:ext cx="4261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Galaxy Training Network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150608" y="38130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</a:rPr>
              <a:t>sección single-cell, sin código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48640" y="4562856"/>
            <a:ext cx="5449824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77240" y="4791456"/>
            <a:ext cx="594360" cy="5943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" y="4940046"/>
            <a:ext cx="297180" cy="2971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508760" y="4791456"/>
            <a:ext cx="4261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Comunidad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1508760" y="538581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</a:rPr>
              <a:t>ISCB-LATAM, Regional Student Groups de ISCB (RSG-Brasil, RSG-Peru…)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6190488" y="4562856"/>
            <a:ext cx="5449824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419088" y="4791456"/>
            <a:ext cx="594360" cy="59436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7678" y="4940046"/>
            <a:ext cx="297180" cy="2971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150608" y="4791456"/>
            <a:ext cx="4261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Estos materiales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7150608" y="538581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</a:rPr>
              <a:t>github.com/Kur1sutaru/ISMB-LATAM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 Thank you! Obrigada!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8E4"/>
                </a:solidFill>
              </a:rPr>
              <a:t>Preguntas, comentarios, errores: abre un issue en GitHub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4A261"/>
                </a:solidFill>
              </a:rPr>
              <a:t>github.com/Kur1sutaru/ISMB-LATAM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rgbClr val="CFE8E4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FE8E4"/>
                </a:solidFill>
              </a:rPr>
              <a:t>Dra. Cristal Villalba Silva · ORCID 0000-0003-0283-7982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CFE8E4"/>
                </a:solidFill>
              </a:rPr>
              <a:t>Código: MIT · Diapositivas y textos: CC BY 4.0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0241280" y="54864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ells to Clusters">
  <a:themeElements>
    <a:clrScheme name="Cells to Clusters">
      <a:dk1>
        <a:srgbClr val="17262B"/>
      </a:dk1>
      <a:lt1>
        <a:srgbClr val="FFFFFF"/>
      </a:lt1>
      <a:dk2>
        <a:srgbClr val="0B3C49"/>
      </a:dk2>
      <a:lt2>
        <a:srgbClr val="EAF4F3"/>
      </a:lt2>
      <a:accent1>
        <a:srgbClr val="2A9D8F"/>
      </a:accent1>
      <a:accent2>
        <a:srgbClr val="E76F51"/>
      </a:accent2>
      <a:accent3>
        <a:srgbClr val="F4A261"/>
      </a:accent3>
      <a:accent4>
        <a:srgbClr val="264653"/>
      </a:accent4>
      <a:accent5>
        <a:srgbClr val="8AB17D"/>
      </a:accent5>
      <a:accent6>
        <a:srgbClr val="6C5B7B"/>
      </a:accent6>
      <a:hlink>
        <a:srgbClr val="1D7874"/>
      </a:hlink>
      <a:folHlink>
        <a:srgbClr val="6C5B7B"/>
      </a:folHlink>
    </a:clrScheme>
    <a:fontScheme name="Cells to Cluste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Células a Clústeres</dc:title>
  <dc:subject>ISCB-LATAM SolBio SPBBC 2026 tutorial</dc:subject>
  <dc:creator>Gerda Cristal Villalba Silva</dc:creator>
  <cp:lastModifiedBy>Gerda Cristal Villalba Silva</cp:lastModifiedBy>
  <cp:revision>1</cp:revision>
  <dcterms:created xsi:type="dcterms:W3CDTF">2026-10-07T14:40:19Z</dcterms:created>
  <dcterms:modified xsi:type="dcterms:W3CDTF">2026-10-07T14:40:19Z</dcterms:modified>
</cp:coreProperties>
</file>